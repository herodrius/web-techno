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78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Présenter le projet comme un catalogue fictif réalisé pour le sujet Ta petite entreprise.</a:t>
            </a:r>
          </a:p>
          <a:p>
            <a:r>
              <a:t>Préciser que le site comporte une page client et un espace gérant connecté aux mêmes données.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Montrer que le projet répond à un besoin client et à un besoin de gestion.</a:t>
            </a:r>
          </a:p>
          <a:p>
            <a:r>
              <a:t>Insister sur le fait que les données affichées viennent de Supabase et ne sont pas écrites directement dans React.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Expliquer le parcours complet de gauche à droite.</a:t>
            </a:r>
          </a:p>
          <a:p>
            <a:r>
              <a:t>React envoie une requête JSON à Express. Express valide puis utilise sa clé privée pour interroger Supabase.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Présenter rapidement les six colonnes.</a:t>
            </a:r>
          </a:p>
          <a:p>
            <a:r>
              <a:t>Mettre l’accent sur disponible, car il s’agit du booléen demandé dans le sujet.</a:t>
            </a:r>
          </a:p>
          <a:p>
            <a:r>
              <a:t>RLS bloque l’accès direct depuis le navigateur. Le serveur utilise la clé service_role.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Associer chaque méthode HTTP à une action CRUD.</a:t>
            </a:r>
          </a:p>
          <a:p>
            <a:r>
              <a:t>Préciser que validateBiere refuse les données invalides avec le code 400 avant tout appel à Supabase.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Montrer la capture du catalogue et nommer les trois fichiers principaux.</a:t>
            </a:r>
          </a:p>
          <a:p>
            <a:r>
              <a:t>Expliquer que React réaffiche automatiquement les cartes après setBieres.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Faire la démonstration depuis cette page.</a:t>
            </a:r>
          </a:p>
          <a:p>
            <a:r>
              <a:t>Ajouter une référence, modifier sa disponibilité puis la supprimer.</a:t>
            </a:r>
          </a:p>
          <a:p>
            <a:r>
              <a:t>Actualiser la page pour prouver que Supabase a conservé les changements.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Expliquer pourquoi le frontend et l’API utilisent deux projets Vercel séparés.</a:t>
            </a:r>
          </a:p>
          <a:p>
            <a:r>
              <a:t>La séparation protège la clé et permet à Express de valider toutes les modifications.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EA5EC18F-9E61-4D5C-ABCE-D5A7FF08A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9315DC6F-7B54-4DA2-895F-10B9682EA7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AF575F32-9016-4EC1-958A-C7113B24C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6CD37F28-3993-4AE5-9282-F3452558E2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FD9AA82E-AA8F-46E7-B3EE-F91C9C8716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6AEA9934-FD34-4FED-B223-E38D79A458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A0B3C6E1-E6DC-49BC-AADB-DBC25EB1B5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33154304-4FD3-4C81-BAAF-72E84465C0CF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5210F5C2-92AD-4B7D-BC3C-49639F610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B4096E19-F041-4CE4-A5F5-7F217C9A63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0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F02A032-32D5-41AE-BEB7-2294CB919B90}"/>
              </a:ext>
            </a:extLst>
          </p:cNvPr>
          <p:cNvSpPr>
            <a:spLocks noGrp="1"/>
          </p:cNvSpPr>
          <p:nvPr/>
        </p:nvSpPr>
        <p:spPr>
          <a:xfrm>
            <a:off x="666750" y="1428750"/>
            <a:ext cx="400050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>
            <a:defPPr>
              <a:defRPr sz="11250" b="1">
                <a:solidFill>
                  <a:srgbClr val="F5F2E9"/>
                </a:solidFill>
                <a:latin typeface="Arial"/>
                <a:ea typeface="Arial"/>
                <a:cs typeface="Arial"/>
              </a:defRPr>
            </a:defPPr>
            <a:lvl1pPr>
              <a:defRPr sz="11250" b="1">
                <a:solidFill>
                  <a:srgbClr val="F5F2E9"/>
                </a:solidFill>
                <a:latin typeface="Arial"/>
                <a:ea typeface="Arial"/>
                <a:cs typeface="Arial"/>
              </a:defRPr>
            </a:lvl1pPr>
            <a:lvl2pPr>
              <a:defRPr sz="11250" b="1">
                <a:solidFill>
                  <a:srgbClr val="F5F2E9"/>
                </a:solidFill>
                <a:latin typeface="Arial"/>
                <a:ea typeface="Arial"/>
                <a:cs typeface="Arial"/>
              </a:defRPr>
            </a:lvl2pPr>
            <a:lvl3pPr>
              <a:defRPr sz="11250" b="1">
                <a:solidFill>
                  <a:srgbClr val="F5F2E9"/>
                </a:solidFill>
                <a:latin typeface="Arial"/>
                <a:ea typeface="Arial"/>
                <a:cs typeface="Arial"/>
              </a:defRPr>
            </a:lvl3pPr>
            <a:lvl4pPr>
              <a:defRPr sz="11250" b="1">
                <a:solidFill>
                  <a:srgbClr val="F5F2E9"/>
                </a:solidFill>
                <a:latin typeface="Arial"/>
                <a:ea typeface="Arial"/>
                <a:cs typeface="Arial"/>
              </a:defRPr>
            </a:lvl4pPr>
            <a:lvl5pPr>
              <a:defRPr sz="11250" b="1">
                <a:solidFill>
                  <a:srgbClr val="F5F2E9"/>
                </a:solidFill>
                <a:latin typeface="Arial"/>
                <a:ea typeface="Arial"/>
                <a:cs typeface="Arial"/>
              </a:defRPr>
            </a:lvl5pPr>
            <a:lvl6pPr>
              <a:defRPr sz="11250" b="1">
                <a:solidFill>
                  <a:srgbClr val="F5F2E9"/>
                </a:solidFill>
                <a:latin typeface="Arial"/>
                <a:ea typeface="Arial"/>
                <a:cs typeface="Arial"/>
              </a:defRPr>
            </a:lvl6pPr>
            <a:lvl7pPr>
              <a:defRPr sz="11250" b="1">
                <a:solidFill>
                  <a:srgbClr val="F5F2E9"/>
                </a:solidFill>
                <a:latin typeface="Arial"/>
                <a:ea typeface="Arial"/>
                <a:cs typeface="Arial"/>
              </a:defRPr>
            </a:lvl7pPr>
            <a:lvl8pPr>
              <a:defRPr sz="11250" b="1">
                <a:solidFill>
                  <a:srgbClr val="F5F2E9"/>
                </a:solidFill>
                <a:latin typeface="Arial"/>
                <a:ea typeface="Arial"/>
                <a:cs typeface="Arial"/>
              </a:defRPr>
            </a:lvl8pPr>
            <a:lvl9pPr>
              <a:defRPr sz="11250" b="1">
                <a:solidFill>
                  <a:srgbClr val="F5F2E9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1250" b="1">
                <a:solidFill>
                  <a:srgbClr val="F5F2E9"/>
                </a:solidFill>
                <a:latin typeface="Arial"/>
                <a:ea typeface="Arial"/>
                <a:cs typeface="Arial"/>
              </a:defRPr>
            </a:pPr>
            <a:r>
              <a:rPr sz="11250" b="1">
                <a:solidFill>
                  <a:srgbClr val="F5F2E9"/>
                </a:solidFill>
                <a:latin typeface="Arial"/>
                <a:ea typeface="Arial"/>
                <a:cs typeface="Arial"/>
              </a:rPr>
              <a:t>8.6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37DC048-E24D-4824-A32E-EAD167B94EB8}"/>
              </a:ext>
            </a:extLst>
          </p:cNvPr>
          <p:cNvSpPr>
            <a:spLocks noGrp="1"/>
          </p:cNvSpPr>
          <p:nvPr/>
        </p:nvSpPr>
        <p:spPr>
          <a:xfrm>
            <a:off x="762000" y="3429000"/>
            <a:ext cx="3714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>
            <a:defPPr>
              <a:defRPr sz="2550" b="1">
                <a:solidFill>
                  <a:srgbClr val="ED6639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ED6639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ED6639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ED6639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ED6639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ED6639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ED6639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ED6639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ED6639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ED6639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550" b="1">
                <a:solidFill>
                  <a:srgbClr val="ED6639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ED6639"/>
                </a:solidFill>
                <a:latin typeface="Arial"/>
                <a:ea typeface="Arial"/>
                <a:cs typeface="Arial"/>
              </a:rPr>
              <a:t>LE COLLECTIF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2DD72AA-950D-45CA-B449-AF144D3F3E87}"/>
              </a:ext>
            </a:extLst>
          </p:cNvPr>
          <p:cNvSpPr>
            <a:spLocks noGrp="1"/>
          </p:cNvSpPr>
          <p:nvPr/>
        </p:nvSpPr>
        <p:spPr>
          <a:xfrm>
            <a:off x="762000" y="4267200"/>
            <a:ext cx="45720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>
            <a:defPPr>
              <a:defRPr sz="1800" b="0">
                <a:solidFill>
                  <a:srgbClr val="D6E0E3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D6E0E3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D6E0E3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D6E0E3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D6E0E3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D6E0E3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D6E0E3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D6E0E3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D6E0E3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D6E0E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00" b="0">
                <a:solidFill>
                  <a:srgbClr val="D6E0E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6E0E3"/>
                </a:solidFill>
                <a:latin typeface="Arial"/>
                <a:ea typeface="Arial"/>
                <a:cs typeface="Arial"/>
              </a:rPr>
              <a:t>Catalogue React connecté à une API Express et à Supabase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529C7F9-D37C-4918-9137-007DCDE75830}"/>
              </a:ext>
            </a:extLst>
          </p:cNvPr>
          <p:cNvSpPr>
            <a:spLocks noGrp="1"/>
          </p:cNvSpPr>
          <p:nvPr/>
        </p:nvSpPr>
        <p:spPr>
          <a:xfrm>
            <a:off x="6534150" y="533400"/>
            <a:ext cx="4953000" cy="5791200"/>
          </a:xfrm>
          <a:prstGeom prst="roundRect">
            <a:avLst>
              <a:gd name="adj" fmla="val 4615"/>
            </a:avLst>
          </a:prstGeom>
          <a:solidFill>
            <a:srgbClr val="0C2635"/>
          </a:solidFill>
          <a:ln w="9525">
            <a:solidFill>
              <a:srgbClr val="23465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EF3C426-FFBE-4B17-AA4B-B4C841EA28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929439" y="762000"/>
            <a:ext cx="2238622" cy="5334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CF02EA1-598F-4E85-A388-0C3B16201B57}"/>
              </a:ext>
            </a:extLst>
          </p:cNvPr>
          <p:cNvSpPr>
            <a:spLocks noGrp="1"/>
          </p:cNvSpPr>
          <p:nvPr/>
        </p:nvSpPr>
        <p:spPr>
          <a:xfrm>
            <a:off x="762000" y="5905500"/>
            <a:ext cx="438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>
            <a:defPPr>
              <a:defRPr sz="1125" b="1">
                <a:solidFill>
                  <a:srgbClr val="FFFFFF">
                    <a:alpha val="53333"/>
                  </a:srgbClr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FFFFFF">
                    <a:alpha val="53333"/>
                  </a:srgbClr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FFFFFF">
                    <a:alpha val="53333"/>
                  </a:srgbClr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FFFFFF">
                    <a:alpha val="53333"/>
                  </a:srgbClr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FFFFFF">
                    <a:alpha val="53333"/>
                  </a:srgbClr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FFFFFF">
                    <a:alpha val="53333"/>
                  </a:srgbClr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FFFFFF">
                    <a:alpha val="53333"/>
                  </a:srgbClr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FFFFFF">
                    <a:alpha val="53333"/>
                  </a:srgbClr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FFFFFF">
                    <a:alpha val="53333"/>
                  </a:srgbClr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FFFFFF">
                    <a:alpha val="53333"/>
                  </a:srgbClr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125" b="1">
                <a:solidFill>
                  <a:srgbClr val="FFFFFF">
                    <a:alpha val="53333"/>
                  </a:srgbClr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>
                    <a:alpha val="53333"/>
                  </a:srgbClr>
                </a:solidFill>
                <a:latin typeface="Arial"/>
                <a:ea typeface="Arial"/>
                <a:cs typeface="Arial"/>
              </a:rPr>
              <a:t>React  •  Express  •  Supabase</a:t>
            </a:r>
          </a:p>
        </p:txBody>
      </p:sp>
    </p:spTree>
    <p:extLst>
      <p:ext uri="{BB962C8B-B14F-4D97-AF65-F5344CB8AC3E}">
        <p14:creationId xmlns:p14="http://schemas.microsoft.com/office/powerpoint/2010/main" val="895267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9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1C24356-2736-4656-B81C-71EB3606F5A0}"/>
              </a:ext>
            </a:extLst>
          </p:cNvPr>
          <p:cNvSpPr>
            <a:spLocks noGrp="1"/>
          </p:cNvSpPr>
          <p:nvPr/>
        </p:nvSpPr>
        <p:spPr>
          <a:xfrm>
            <a:off x="609600" y="428625"/>
            <a:ext cx="5143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>
            <a:defPPr>
              <a:defRPr sz="975" b="1">
                <a:solidFill>
                  <a:srgbClr val="ED6639"/>
                </a:solidFill>
                <a:latin typeface="Arial"/>
                <a:ea typeface="Arial"/>
                <a:cs typeface="Arial"/>
              </a:defRPr>
            </a:defPPr>
            <a:lvl1pPr>
              <a:defRPr sz="975" b="1">
                <a:solidFill>
                  <a:srgbClr val="ED6639"/>
                </a:solidFill>
                <a:latin typeface="Arial"/>
                <a:ea typeface="Arial"/>
                <a:cs typeface="Arial"/>
              </a:defRPr>
            </a:lvl1pPr>
            <a:lvl2pPr>
              <a:defRPr sz="975" b="1">
                <a:solidFill>
                  <a:srgbClr val="ED6639"/>
                </a:solidFill>
                <a:latin typeface="Arial"/>
                <a:ea typeface="Arial"/>
                <a:cs typeface="Arial"/>
              </a:defRPr>
            </a:lvl2pPr>
            <a:lvl3pPr>
              <a:defRPr sz="975" b="1">
                <a:solidFill>
                  <a:srgbClr val="ED6639"/>
                </a:solidFill>
                <a:latin typeface="Arial"/>
                <a:ea typeface="Arial"/>
                <a:cs typeface="Arial"/>
              </a:defRPr>
            </a:lvl3pPr>
            <a:lvl4pPr>
              <a:defRPr sz="975" b="1">
                <a:solidFill>
                  <a:srgbClr val="ED6639"/>
                </a:solidFill>
                <a:latin typeface="Arial"/>
                <a:ea typeface="Arial"/>
                <a:cs typeface="Arial"/>
              </a:defRPr>
            </a:lvl4pPr>
            <a:lvl5pPr>
              <a:defRPr sz="975" b="1">
                <a:solidFill>
                  <a:srgbClr val="ED6639"/>
                </a:solidFill>
                <a:latin typeface="Arial"/>
                <a:ea typeface="Arial"/>
                <a:cs typeface="Arial"/>
              </a:defRPr>
            </a:lvl5pPr>
            <a:lvl6pPr>
              <a:defRPr sz="975" b="1">
                <a:solidFill>
                  <a:srgbClr val="ED6639"/>
                </a:solidFill>
                <a:latin typeface="Arial"/>
                <a:ea typeface="Arial"/>
                <a:cs typeface="Arial"/>
              </a:defRPr>
            </a:lvl6pPr>
            <a:lvl7pPr>
              <a:defRPr sz="975" b="1">
                <a:solidFill>
                  <a:srgbClr val="ED6639"/>
                </a:solidFill>
                <a:latin typeface="Arial"/>
                <a:ea typeface="Arial"/>
                <a:cs typeface="Arial"/>
              </a:defRPr>
            </a:lvl7pPr>
            <a:lvl8pPr>
              <a:defRPr sz="975" b="1">
                <a:solidFill>
                  <a:srgbClr val="ED6639"/>
                </a:solidFill>
                <a:latin typeface="Arial"/>
                <a:ea typeface="Arial"/>
                <a:cs typeface="Arial"/>
              </a:defRPr>
            </a:lvl8pPr>
            <a:lvl9pPr>
              <a:defRPr sz="975" b="1">
                <a:solidFill>
                  <a:srgbClr val="ED6639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975" b="1">
                <a:solidFill>
                  <a:srgbClr val="ED663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ED663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6127984-B26F-45F4-9B8C-1F4D0ACBD49A}"/>
              </a:ext>
            </a:extLst>
          </p:cNvPr>
          <p:cNvSpPr>
            <a:spLocks noGrp="1"/>
          </p:cNvSpPr>
          <p:nvPr/>
        </p:nvSpPr>
        <p:spPr>
          <a:xfrm>
            <a:off x="1219200" y="352425"/>
            <a:ext cx="9525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>
            <a:defPPr>
              <a:defRPr sz="2400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400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1D19"/>
                </a:solidFill>
                <a:latin typeface="Arial"/>
                <a:ea typeface="Arial"/>
                <a:cs typeface="Arial"/>
              </a:rPr>
              <a:t>Le projet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CDF94A4-F76E-4035-AA06-43A60D06E4D9}"/>
              </a:ext>
            </a:extLst>
          </p:cNvPr>
          <p:cNvSpPr>
            <a:spLocks noGrp="1"/>
          </p:cNvSpPr>
          <p:nvPr/>
        </p:nvSpPr>
        <p:spPr>
          <a:xfrm>
            <a:off x="609600" y="990600"/>
            <a:ext cx="10972800" cy="9525"/>
          </a:xfrm>
          <a:prstGeom prst="rect">
            <a:avLst/>
          </a:prstGeom>
          <a:solidFill>
            <a:srgbClr val="CDD0C7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D83DAEA-6CF0-4E66-825E-122B82EEFB80}"/>
              </a:ext>
            </a:extLst>
          </p:cNvPr>
          <p:cNvSpPr>
            <a:spLocks noGrp="1"/>
          </p:cNvSpPr>
          <p:nvPr/>
        </p:nvSpPr>
        <p:spPr>
          <a:xfrm>
            <a:off x="609600" y="1333500"/>
            <a:ext cx="4762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77775" lnSpcReduction="10000"/>
          </a:bodyPr>
          <a:lstStyle>
            <a:defPPr>
              <a:defRPr sz="3150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150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1D19"/>
                </a:solidFill>
                <a:latin typeface="Arial"/>
                <a:ea typeface="Arial"/>
                <a:cs typeface="Arial"/>
              </a:rPr>
              <a:t>Deux usages, une seule collection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6C6F43F-72BF-4D0B-9FCA-8582D05C27BF}"/>
              </a:ext>
            </a:extLst>
          </p:cNvPr>
          <p:cNvSpPr>
            <a:spLocks noGrp="1"/>
          </p:cNvSpPr>
          <p:nvPr/>
        </p:nvSpPr>
        <p:spPr>
          <a:xfrm>
            <a:off x="609600" y="2333625"/>
            <a:ext cx="4476750" cy="2857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>
            <a:defPPr>
              <a:defRPr sz="1575" b="0">
                <a:solidFill>
                  <a:srgbClr val="171D19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171D19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171D19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171D19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171D19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171D19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171D19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171D19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171D19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171D19"/>
                </a:solidFill>
                <a:latin typeface="Arial"/>
                <a:ea typeface="Arial"/>
                <a:cs typeface="Arial"/>
              </a:defRPr>
            </a:lvl9pPr>
          </a:lstStyle>
          <a:p>
            <a:pPr marL="228600" indent="-114300">
              <a:spcAft>
                <a:spcPts val="1500"/>
              </a:spcAft>
              <a:buChar char="•"/>
              <a:defRPr sz="1575" b="0">
                <a:solidFill>
                  <a:srgbClr val="171D19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1D19"/>
                </a:solidFill>
                <a:latin typeface="Arial"/>
                <a:ea typeface="Arial"/>
                <a:cs typeface="Arial"/>
              </a:rPr>
              <a:t>Le client consulte les références, cherche une bière et filtre par catégorie.</a:t>
            </a:r>
          </a:p>
          <a:p>
            <a:pPr marL="228600" indent="-114300">
              <a:spcAft>
                <a:spcPts val="1500"/>
              </a:spcAft>
              <a:buChar char="•"/>
              <a:defRPr sz="1575" b="0">
                <a:solidFill>
                  <a:srgbClr val="171D19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1D19"/>
                </a:solidFill>
                <a:latin typeface="Arial"/>
                <a:ea typeface="Arial"/>
                <a:cs typeface="Arial"/>
              </a:rPr>
              <a:t>Le gérant ajoute, modifie, rend indisponible ou supprime une référence.</a:t>
            </a:r>
          </a:p>
          <a:p>
            <a:pPr marL="228600" indent="-114300">
              <a:spcAft>
                <a:spcPts val="1500"/>
              </a:spcAft>
              <a:buChar char="•"/>
              <a:defRPr sz="1575" b="0">
                <a:solidFill>
                  <a:srgbClr val="171D19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1D19"/>
                </a:solidFill>
                <a:latin typeface="Arial"/>
                <a:ea typeface="Arial"/>
                <a:cs typeface="Arial"/>
              </a:rPr>
              <a:t>Supabase conserve les changements après actualisation de la page.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509ABAC-B696-4E7C-8318-59A7FB29FF48}"/>
              </a:ext>
            </a:extLst>
          </p:cNvPr>
          <p:cNvSpPr>
            <a:spLocks noGrp="1"/>
          </p:cNvSpPr>
          <p:nvPr/>
        </p:nvSpPr>
        <p:spPr>
          <a:xfrm>
            <a:off x="609600" y="6448425"/>
            <a:ext cx="2476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85278" lnSpcReduction="20000"/>
          </a:bodyPr>
          <a:lstStyle>
            <a:defPPr>
              <a:defRPr sz="675" b="1">
                <a:solidFill>
                  <a:srgbClr val="6E7568">
                    <a:alpha val="53333"/>
                  </a:srgbClr>
                </a:solidFill>
                <a:latin typeface="Arial"/>
                <a:ea typeface="Arial"/>
                <a:cs typeface="Arial"/>
              </a:defRPr>
            </a:defPPr>
            <a:lvl1pPr>
              <a:defRPr sz="675" b="1">
                <a:solidFill>
                  <a:srgbClr val="6E7568">
                    <a:alpha val="53333"/>
                  </a:srgbClr>
                </a:solidFill>
                <a:latin typeface="Arial"/>
                <a:ea typeface="Arial"/>
                <a:cs typeface="Arial"/>
              </a:defRPr>
            </a:lvl1pPr>
            <a:lvl2pPr>
              <a:defRPr sz="675" b="1">
                <a:solidFill>
                  <a:srgbClr val="6E7568">
                    <a:alpha val="53333"/>
                  </a:srgbClr>
                </a:solidFill>
                <a:latin typeface="Arial"/>
                <a:ea typeface="Arial"/>
                <a:cs typeface="Arial"/>
              </a:defRPr>
            </a:lvl2pPr>
            <a:lvl3pPr>
              <a:defRPr sz="675" b="1">
                <a:solidFill>
                  <a:srgbClr val="6E7568">
                    <a:alpha val="53333"/>
                  </a:srgbClr>
                </a:solidFill>
                <a:latin typeface="Arial"/>
                <a:ea typeface="Arial"/>
                <a:cs typeface="Arial"/>
              </a:defRPr>
            </a:lvl3pPr>
            <a:lvl4pPr>
              <a:defRPr sz="675" b="1">
                <a:solidFill>
                  <a:srgbClr val="6E7568">
                    <a:alpha val="53333"/>
                  </a:srgbClr>
                </a:solidFill>
                <a:latin typeface="Arial"/>
                <a:ea typeface="Arial"/>
                <a:cs typeface="Arial"/>
              </a:defRPr>
            </a:lvl4pPr>
            <a:lvl5pPr>
              <a:defRPr sz="675" b="1">
                <a:solidFill>
                  <a:srgbClr val="6E7568">
                    <a:alpha val="53333"/>
                  </a:srgbClr>
                </a:solidFill>
                <a:latin typeface="Arial"/>
                <a:ea typeface="Arial"/>
                <a:cs typeface="Arial"/>
              </a:defRPr>
            </a:lvl5pPr>
            <a:lvl6pPr>
              <a:defRPr sz="675" b="1">
                <a:solidFill>
                  <a:srgbClr val="6E7568">
                    <a:alpha val="53333"/>
                  </a:srgbClr>
                </a:solidFill>
                <a:latin typeface="Arial"/>
                <a:ea typeface="Arial"/>
                <a:cs typeface="Arial"/>
              </a:defRPr>
            </a:lvl6pPr>
            <a:lvl7pPr>
              <a:defRPr sz="675" b="1">
                <a:solidFill>
                  <a:srgbClr val="6E7568">
                    <a:alpha val="53333"/>
                  </a:srgbClr>
                </a:solidFill>
                <a:latin typeface="Arial"/>
                <a:ea typeface="Arial"/>
                <a:cs typeface="Arial"/>
              </a:defRPr>
            </a:lvl7pPr>
            <a:lvl8pPr>
              <a:defRPr sz="675" b="1">
                <a:solidFill>
                  <a:srgbClr val="6E7568">
                    <a:alpha val="53333"/>
                  </a:srgbClr>
                </a:solidFill>
                <a:latin typeface="Arial"/>
                <a:ea typeface="Arial"/>
                <a:cs typeface="Arial"/>
              </a:defRPr>
            </a:lvl8pPr>
            <a:lvl9pPr>
              <a:defRPr sz="675" b="1">
                <a:solidFill>
                  <a:srgbClr val="6E7568">
                    <a:alpha val="53333"/>
                  </a:srgbClr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675" b="1">
                <a:solidFill>
                  <a:srgbClr val="6E7568">
                    <a:alpha val="53333"/>
                  </a:srgbClr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E7568">
                    <a:alpha val="53333"/>
                  </a:srgbClr>
                </a:solidFill>
                <a:latin typeface="Arial"/>
                <a:ea typeface="Arial"/>
                <a:cs typeface="Arial"/>
              </a:rPr>
              <a:t>8.6 · LE COLLECTIF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7B97C81-5ED0-42BE-9F14-67D593E3743E}"/>
              </a:ext>
            </a:extLst>
          </p:cNvPr>
          <p:cNvSpPr>
            <a:spLocks noGrp="1"/>
          </p:cNvSpPr>
          <p:nvPr/>
        </p:nvSpPr>
        <p:spPr>
          <a:xfrm>
            <a:off x="11144250" y="6448425"/>
            <a:ext cx="4286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85278" lnSpcReduction="20000"/>
          </a:bodyPr>
          <a:lstStyle>
            <a:defPPr>
              <a:defRPr sz="675" b="1">
                <a:solidFill>
                  <a:srgbClr val="6E7568">
                    <a:alpha val="53333"/>
                  </a:srgbClr>
                </a:solidFill>
                <a:latin typeface="Arial"/>
                <a:ea typeface="Arial"/>
                <a:cs typeface="Arial"/>
              </a:defRPr>
            </a:defPPr>
            <a:lvl1pPr>
              <a:defRPr sz="675" b="1">
                <a:solidFill>
                  <a:srgbClr val="6E7568">
                    <a:alpha val="53333"/>
                  </a:srgbClr>
                </a:solidFill>
                <a:latin typeface="Arial"/>
                <a:ea typeface="Arial"/>
                <a:cs typeface="Arial"/>
              </a:defRPr>
            </a:lvl1pPr>
            <a:lvl2pPr>
              <a:defRPr sz="675" b="1">
                <a:solidFill>
                  <a:srgbClr val="6E7568">
                    <a:alpha val="53333"/>
                  </a:srgbClr>
                </a:solidFill>
                <a:latin typeface="Arial"/>
                <a:ea typeface="Arial"/>
                <a:cs typeface="Arial"/>
              </a:defRPr>
            </a:lvl2pPr>
            <a:lvl3pPr>
              <a:defRPr sz="675" b="1">
                <a:solidFill>
                  <a:srgbClr val="6E7568">
                    <a:alpha val="53333"/>
                  </a:srgbClr>
                </a:solidFill>
                <a:latin typeface="Arial"/>
                <a:ea typeface="Arial"/>
                <a:cs typeface="Arial"/>
              </a:defRPr>
            </a:lvl3pPr>
            <a:lvl4pPr>
              <a:defRPr sz="675" b="1">
                <a:solidFill>
                  <a:srgbClr val="6E7568">
                    <a:alpha val="53333"/>
                  </a:srgbClr>
                </a:solidFill>
                <a:latin typeface="Arial"/>
                <a:ea typeface="Arial"/>
                <a:cs typeface="Arial"/>
              </a:defRPr>
            </a:lvl4pPr>
            <a:lvl5pPr>
              <a:defRPr sz="675" b="1">
                <a:solidFill>
                  <a:srgbClr val="6E7568">
                    <a:alpha val="53333"/>
                  </a:srgbClr>
                </a:solidFill>
                <a:latin typeface="Arial"/>
                <a:ea typeface="Arial"/>
                <a:cs typeface="Arial"/>
              </a:defRPr>
            </a:lvl5pPr>
            <a:lvl6pPr>
              <a:defRPr sz="675" b="1">
                <a:solidFill>
                  <a:srgbClr val="6E7568">
                    <a:alpha val="53333"/>
                  </a:srgbClr>
                </a:solidFill>
                <a:latin typeface="Arial"/>
                <a:ea typeface="Arial"/>
                <a:cs typeface="Arial"/>
              </a:defRPr>
            </a:lvl6pPr>
            <a:lvl7pPr>
              <a:defRPr sz="675" b="1">
                <a:solidFill>
                  <a:srgbClr val="6E7568">
                    <a:alpha val="53333"/>
                  </a:srgbClr>
                </a:solidFill>
                <a:latin typeface="Arial"/>
                <a:ea typeface="Arial"/>
                <a:cs typeface="Arial"/>
              </a:defRPr>
            </a:lvl7pPr>
            <a:lvl8pPr>
              <a:defRPr sz="675" b="1">
                <a:solidFill>
                  <a:srgbClr val="6E7568">
                    <a:alpha val="53333"/>
                  </a:srgbClr>
                </a:solidFill>
                <a:latin typeface="Arial"/>
                <a:ea typeface="Arial"/>
                <a:cs typeface="Arial"/>
              </a:defRPr>
            </a:lvl8pPr>
            <a:lvl9pPr>
              <a:defRPr sz="675" b="1">
                <a:solidFill>
                  <a:srgbClr val="6E7568">
                    <a:alpha val="53333"/>
                  </a:srgbClr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675" b="1">
                <a:solidFill>
                  <a:srgbClr val="6E7568">
                    <a:alpha val="53333"/>
                  </a:srgbClr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E7568">
                    <a:alpha val="53333"/>
                  </a:srgbClr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CBAE010-5591-1048-DC1D-25EE6B01992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7066" t="5783" r="3121"/>
          <a:stretch>
            <a:fillRect/>
          </a:stretch>
        </p:blipFill>
        <p:spPr>
          <a:xfrm>
            <a:off x="6881812" y="1549849"/>
            <a:ext cx="4476750" cy="3758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77324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0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EBBB830-D3E9-4145-9230-8674679D2913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7477125" y="3381375"/>
            <a:ext cx="1095375" cy="0"/>
          </a:xfrm>
          <a:prstGeom prst="straightConnector1">
            <a:avLst/>
          </a:prstGeom>
          <a:ln w="28575">
            <a:solidFill>
              <a:srgbClr val="E3B38D"/>
            </a:solidFill>
            <a:prstDash val="solid"/>
            <a:headEnd type="arrow" w="med" len="med"/>
          </a:ln>
        </p:spPr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C90DE64-7832-4E91-93BC-C2E372B46A09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3619500" y="3381375"/>
            <a:ext cx="1095375" cy="0"/>
          </a:xfrm>
          <a:prstGeom prst="straightConnector1">
            <a:avLst/>
          </a:prstGeom>
          <a:ln w="28575">
            <a:solidFill>
              <a:srgbClr val="9BC7D8"/>
            </a:solidFill>
            <a:prstDash val="solid"/>
            <a:headEnd type="arrow" w="med" len="med"/>
          </a:ln>
        </p:spPr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403E4CAA-74A6-408B-A98C-38EA7CA961AA}"/>
              </a:ext>
            </a:extLst>
          </p:cNvPr>
          <p:cNvSpPr>
            <a:spLocks noGrp="1"/>
          </p:cNvSpPr>
          <p:nvPr/>
        </p:nvSpPr>
        <p:spPr>
          <a:xfrm>
            <a:off x="609600" y="428625"/>
            <a:ext cx="5143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>
            <a:defPPr>
              <a:defRPr sz="975" b="1">
                <a:solidFill>
                  <a:srgbClr val="9BC7D8"/>
                </a:solidFill>
                <a:latin typeface="Arial"/>
                <a:ea typeface="Arial"/>
                <a:cs typeface="Arial"/>
              </a:defRPr>
            </a:defPPr>
            <a:lvl1pPr>
              <a:defRPr sz="975" b="1">
                <a:solidFill>
                  <a:srgbClr val="9BC7D8"/>
                </a:solidFill>
                <a:latin typeface="Arial"/>
                <a:ea typeface="Arial"/>
                <a:cs typeface="Arial"/>
              </a:defRPr>
            </a:lvl1pPr>
            <a:lvl2pPr>
              <a:defRPr sz="975" b="1">
                <a:solidFill>
                  <a:srgbClr val="9BC7D8"/>
                </a:solidFill>
                <a:latin typeface="Arial"/>
                <a:ea typeface="Arial"/>
                <a:cs typeface="Arial"/>
              </a:defRPr>
            </a:lvl2pPr>
            <a:lvl3pPr>
              <a:defRPr sz="975" b="1">
                <a:solidFill>
                  <a:srgbClr val="9BC7D8"/>
                </a:solidFill>
                <a:latin typeface="Arial"/>
                <a:ea typeface="Arial"/>
                <a:cs typeface="Arial"/>
              </a:defRPr>
            </a:lvl3pPr>
            <a:lvl4pPr>
              <a:defRPr sz="975" b="1">
                <a:solidFill>
                  <a:srgbClr val="9BC7D8"/>
                </a:solidFill>
                <a:latin typeface="Arial"/>
                <a:ea typeface="Arial"/>
                <a:cs typeface="Arial"/>
              </a:defRPr>
            </a:lvl4pPr>
            <a:lvl5pPr>
              <a:defRPr sz="975" b="1">
                <a:solidFill>
                  <a:srgbClr val="9BC7D8"/>
                </a:solidFill>
                <a:latin typeface="Arial"/>
                <a:ea typeface="Arial"/>
                <a:cs typeface="Arial"/>
              </a:defRPr>
            </a:lvl5pPr>
            <a:lvl6pPr>
              <a:defRPr sz="975" b="1">
                <a:solidFill>
                  <a:srgbClr val="9BC7D8"/>
                </a:solidFill>
                <a:latin typeface="Arial"/>
                <a:ea typeface="Arial"/>
                <a:cs typeface="Arial"/>
              </a:defRPr>
            </a:lvl6pPr>
            <a:lvl7pPr>
              <a:defRPr sz="975" b="1">
                <a:solidFill>
                  <a:srgbClr val="9BC7D8"/>
                </a:solidFill>
                <a:latin typeface="Arial"/>
                <a:ea typeface="Arial"/>
                <a:cs typeface="Arial"/>
              </a:defRPr>
            </a:lvl7pPr>
            <a:lvl8pPr>
              <a:defRPr sz="975" b="1">
                <a:solidFill>
                  <a:srgbClr val="9BC7D8"/>
                </a:solidFill>
                <a:latin typeface="Arial"/>
                <a:ea typeface="Arial"/>
                <a:cs typeface="Arial"/>
              </a:defRPr>
            </a:lvl8pPr>
            <a:lvl9pPr>
              <a:defRPr sz="975" b="1">
                <a:solidFill>
                  <a:srgbClr val="9BC7D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975" b="1">
                <a:solidFill>
                  <a:srgbClr val="9BC7D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BC7D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EC1F307-C9A6-4AFE-843C-3F0CF8ADE74E}"/>
              </a:ext>
            </a:extLst>
          </p:cNvPr>
          <p:cNvSpPr>
            <a:spLocks noGrp="1"/>
          </p:cNvSpPr>
          <p:nvPr/>
        </p:nvSpPr>
        <p:spPr>
          <a:xfrm>
            <a:off x="1219200" y="352425"/>
            <a:ext cx="9525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>
            <a:defPPr>
              <a:defRPr sz="2400" b="1">
                <a:solidFill>
                  <a:srgbClr val="F5F2E9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F5F2E9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F5F2E9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F5F2E9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F5F2E9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F5F2E9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F5F2E9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F5F2E9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F5F2E9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F5F2E9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400" b="1">
                <a:solidFill>
                  <a:srgbClr val="F5F2E9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5F2E9"/>
                </a:solidFill>
                <a:latin typeface="Arial"/>
                <a:ea typeface="Arial"/>
                <a:cs typeface="Arial"/>
              </a:rPr>
              <a:t>Architecture technique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7331A43-2E13-42BE-BFD5-C9DE0908C8C8}"/>
              </a:ext>
            </a:extLst>
          </p:cNvPr>
          <p:cNvSpPr>
            <a:spLocks noGrp="1"/>
          </p:cNvSpPr>
          <p:nvPr/>
        </p:nvSpPr>
        <p:spPr>
          <a:xfrm>
            <a:off x="609600" y="990600"/>
            <a:ext cx="10972800" cy="9525"/>
          </a:xfrm>
          <a:prstGeom prst="rect">
            <a:avLst/>
          </a:prstGeom>
          <a:solidFill>
            <a:srgbClr val="FFFFFF">
              <a:alpha val="16471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42C9869-3CCF-47B9-87DF-58F95EFAC50F}"/>
              </a:ext>
            </a:extLst>
          </p:cNvPr>
          <p:cNvSpPr>
            <a:spLocks noGrp="1"/>
          </p:cNvSpPr>
          <p:nvPr/>
        </p:nvSpPr>
        <p:spPr>
          <a:xfrm>
            <a:off x="1219200" y="1238250"/>
            <a:ext cx="9144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>
            <a:defPPr>
              <a:defRPr sz="2250" b="1">
                <a:solidFill>
                  <a:srgbClr val="F5F2E9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F5F2E9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F5F2E9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F5F2E9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F5F2E9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F5F2E9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F5F2E9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F5F2E9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F5F2E9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F5F2E9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250" b="1">
                <a:solidFill>
                  <a:srgbClr val="F5F2E9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5F2E9"/>
                </a:solidFill>
                <a:latin typeface="Arial"/>
                <a:ea typeface="Arial"/>
                <a:cs typeface="Arial"/>
              </a:rPr>
              <a:t>Le navigateur ne communique jamais directement avec la base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DA9C867-7A4F-4ADC-8626-3FF648ABD879}"/>
              </a:ext>
            </a:extLst>
          </p:cNvPr>
          <p:cNvSpPr>
            <a:spLocks noGrp="1"/>
          </p:cNvSpPr>
          <p:nvPr/>
        </p:nvSpPr>
        <p:spPr>
          <a:xfrm>
            <a:off x="857250" y="2381250"/>
            <a:ext cx="2762250" cy="2000250"/>
          </a:xfrm>
          <a:prstGeom prst="roundRect">
            <a:avLst>
              <a:gd name="adj" fmla="val 7619"/>
            </a:avLst>
          </a:prstGeom>
          <a:solidFill>
            <a:srgbClr val="102A38"/>
          </a:solidFill>
          <a:ln w="9525">
            <a:solidFill>
              <a:srgbClr val="35607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60FC5AB-77EB-4400-B99A-3A852A5CDF17}"/>
              </a:ext>
            </a:extLst>
          </p:cNvPr>
          <p:cNvSpPr>
            <a:spLocks noGrp="1"/>
          </p:cNvSpPr>
          <p:nvPr/>
        </p:nvSpPr>
        <p:spPr>
          <a:xfrm>
            <a:off x="4714875" y="2381250"/>
            <a:ext cx="2762250" cy="2000250"/>
          </a:xfrm>
          <a:prstGeom prst="roundRect">
            <a:avLst>
              <a:gd name="adj" fmla="val 7619"/>
            </a:avLst>
          </a:prstGeom>
          <a:solidFill>
            <a:srgbClr val="24291F"/>
          </a:solidFill>
          <a:ln w="9525">
            <a:solidFill>
              <a:srgbClr val="66745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E342814-9BAF-41F2-B19F-695BFE4DFCC7}"/>
              </a:ext>
            </a:extLst>
          </p:cNvPr>
          <p:cNvSpPr>
            <a:spLocks noGrp="1"/>
          </p:cNvSpPr>
          <p:nvPr/>
        </p:nvSpPr>
        <p:spPr>
          <a:xfrm>
            <a:off x="8572500" y="2381250"/>
            <a:ext cx="2762250" cy="2000250"/>
          </a:xfrm>
          <a:prstGeom prst="roundRect">
            <a:avLst>
              <a:gd name="adj" fmla="val 7619"/>
            </a:avLst>
          </a:prstGeom>
          <a:solidFill>
            <a:srgbClr val="30241D"/>
          </a:solidFill>
          <a:ln w="9525">
            <a:solidFill>
              <a:srgbClr val="8A624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B00D5C4-4A1D-44F1-8B2F-068DD6B35952}"/>
              </a:ext>
            </a:extLst>
          </p:cNvPr>
          <p:cNvSpPr>
            <a:spLocks noGrp="1"/>
          </p:cNvSpPr>
          <p:nvPr/>
        </p:nvSpPr>
        <p:spPr>
          <a:xfrm>
            <a:off x="1143000" y="2714625"/>
            <a:ext cx="2190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>
            <a:defPPr>
              <a:defRPr sz="2250" b="1">
                <a:solidFill>
                  <a:srgbClr val="9BC7D8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9BC7D8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9BC7D8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9BC7D8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9BC7D8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9BC7D8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9BC7D8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9BC7D8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9BC7D8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9BC7D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250" b="1">
                <a:solidFill>
                  <a:srgbClr val="9BC7D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9BC7D8"/>
                </a:solidFill>
                <a:latin typeface="Arial"/>
                <a:ea typeface="Arial"/>
                <a:cs typeface="Arial"/>
              </a:rPr>
              <a:t>REACT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03FCF04-F31E-4DAC-B91E-8B38EC811B85}"/>
              </a:ext>
            </a:extLst>
          </p:cNvPr>
          <p:cNvSpPr>
            <a:spLocks noGrp="1"/>
          </p:cNvSpPr>
          <p:nvPr/>
        </p:nvSpPr>
        <p:spPr>
          <a:xfrm>
            <a:off x="1143000" y="3286125"/>
            <a:ext cx="20955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>
            <a:defPPr>
              <a:defRPr sz="1350" b="0">
                <a:solidFill>
                  <a:srgbClr val="F5F2E9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F5F2E9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F5F2E9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F5F2E9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F5F2E9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F5F2E9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F5F2E9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F5F2E9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F5F2E9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F5F2E9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350" b="0">
                <a:solidFill>
                  <a:srgbClr val="F5F2E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5F2E9"/>
                </a:solidFill>
                <a:latin typeface="Arial"/>
                <a:ea typeface="Arial"/>
                <a:cs typeface="Arial"/>
              </a:rPr>
              <a:t>Interface client</a:t>
            </a:r>
          </a:p>
          <a:p>
            <a:pPr>
              <a:defRPr sz="1350" b="0">
                <a:solidFill>
                  <a:srgbClr val="F5F2E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5F2E9"/>
                </a:solidFill>
                <a:latin typeface="Arial"/>
                <a:ea typeface="Arial"/>
                <a:cs typeface="Arial"/>
              </a:rPr>
              <a:t>Formulaire gérant</a:t>
            </a:r>
          </a:p>
          <a:p>
            <a:pPr>
              <a:defRPr sz="1350" b="0">
                <a:solidFill>
                  <a:srgbClr val="F5F2E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5F2E9"/>
                </a:solidFill>
                <a:latin typeface="Arial"/>
                <a:ea typeface="Arial"/>
                <a:cs typeface="Arial"/>
              </a:rPr>
              <a:t>fetch()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4B21EA9-D71F-4677-8986-3853A76A3DAF}"/>
              </a:ext>
            </a:extLst>
          </p:cNvPr>
          <p:cNvSpPr>
            <a:spLocks noGrp="1"/>
          </p:cNvSpPr>
          <p:nvPr/>
        </p:nvSpPr>
        <p:spPr>
          <a:xfrm>
            <a:off x="5000625" y="2714625"/>
            <a:ext cx="2190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>
            <a:defPPr>
              <a:defRPr sz="2250" b="1">
                <a:solidFill>
                  <a:srgbClr val="B8C69F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B8C69F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B8C69F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B8C69F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B8C69F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B8C69F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B8C69F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B8C69F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B8C69F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B8C69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250" b="1">
                <a:solidFill>
                  <a:srgbClr val="B8C69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B8C69F"/>
                </a:solidFill>
                <a:latin typeface="Arial"/>
                <a:ea typeface="Arial"/>
                <a:cs typeface="Arial"/>
              </a:rPr>
              <a:t>EXPRESS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0C98447-4093-4567-894C-2CE1F90AC077}"/>
              </a:ext>
            </a:extLst>
          </p:cNvPr>
          <p:cNvSpPr>
            <a:spLocks noGrp="1"/>
          </p:cNvSpPr>
          <p:nvPr/>
        </p:nvSpPr>
        <p:spPr>
          <a:xfrm>
            <a:off x="5000625" y="3286125"/>
            <a:ext cx="20955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>
            <a:defPPr>
              <a:defRPr sz="1350" b="0">
                <a:solidFill>
                  <a:srgbClr val="F5F2E9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F5F2E9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F5F2E9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F5F2E9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F5F2E9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F5F2E9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F5F2E9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F5F2E9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F5F2E9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F5F2E9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350" b="0">
                <a:solidFill>
                  <a:srgbClr val="F5F2E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5F2E9"/>
                </a:solidFill>
                <a:latin typeface="Arial"/>
                <a:ea typeface="Arial"/>
                <a:cs typeface="Arial"/>
              </a:rPr>
              <a:t>Routes HTTP</a:t>
            </a:r>
          </a:p>
          <a:p>
            <a:pPr>
              <a:defRPr sz="1350" b="0">
                <a:solidFill>
                  <a:srgbClr val="F5F2E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5F2E9"/>
                </a:solidFill>
                <a:latin typeface="Arial"/>
                <a:ea typeface="Arial"/>
                <a:cs typeface="Arial"/>
              </a:rPr>
              <a:t>Validation</a:t>
            </a:r>
          </a:p>
          <a:p>
            <a:pPr>
              <a:defRPr sz="1350" b="0">
                <a:solidFill>
                  <a:srgbClr val="F5F2E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5F2E9"/>
                </a:solidFill>
                <a:latin typeface="Arial"/>
                <a:ea typeface="Arial"/>
                <a:cs typeface="Arial"/>
              </a:rPr>
              <a:t>Clé privée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EA4CF60-68E2-4EF6-BC8F-610EA10D1555}"/>
              </a:ext>
            </a:extLst>
          </p:cNvPr>
          <p:cNvSpPr>
            <a:spLocks noGrp="1"/>
          </p:cNvSpPr>
          <p:nvPr/>
        </p:nvSpPr>
        <p:spPr>
          <a:xfrm>
            <a:off x="8858250" y="2714625"/>
            <a:ext cx="2190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>
            <a:defPPr>
              <a:defRPr sz="2250" b="1">
                <a:solidFill>
                  <a:srgbClr val="E3B38D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E3B38D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E3B38D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E3B38D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E3B38D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E3B38D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E3B38D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E3B38D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E3B38D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E3B38D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250" b="1">
                <a:solidFill>
                  <a:srgbClr val="E3B38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E3B38D"/>
                </a:solidFill>
                <a:latin typeface="Arial"/>
                <a:ea typeface="Arial"/>
                <a:cs typeface="Arial"/>
              </a:rPr>
              <a:t>SUPABASE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4B31751-67EC-43A1-92B4-40E1ACE84C2E}"/>
              </a:ext>
            </a:extLst>
          </p:cNvPr>
          <p:cNvSpPr>
            <a:spLocks noGrp="1"/>
          </p:cNvSpPr>
          <p:nvPr/>
        </p:nvSpPr>
        <p:spPr>
          <a:xfrm>
            <a:off x="8858250" y="3286125"/>
            <a:ext cx="20955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>
            <a:defPPr>
              <a:defRPr sz="1350" b="0">
                <a:solidFill>
                  <a:srgbClr val="F5F2E9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F5F2E9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F5F2E9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F5F2E9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F5F2E9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F5F2E9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F5F2E9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F5F2E9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F5F2E9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F5F2E9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350" b="0">
                <a:solidFill>
                  <a:srgbClr val="F5F2E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5F2E9"/>
                </a:solidFill>
                <a:latin typeface="Arial"/>
                <a:ea typeface="Arial"/>
                <a:cs typeface="Arial"/>
              </a:rPr>
              <a:t>Table bieres</a:t>
            </a:r>
          </a:p>
          <a:p>
            <a:pPr>
              <a:defRPr sz="1350" b="0">
                <a:solidFill>
                  <a:srgbClr val="F5F2E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5F2E9"/>
                </a:solidFill>
                <a:latin typeface="Arial"/>
                <a:ea typeface="Arial"/>
                <a:cs typeface="Arial"/>
              </a:rPr>
              <a:t>Persistance</a:t>
            </a:r>
          </a:p>
          <a:p>
            <a:pPr>
              <a:defRPr sz="1350" b="0">
                <a:solidFill>
                  <a:srgbClr val="F5F2E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5F2E9"/>
                </a:solidFill>
                <a:latin typeface="Arial"/>
                <a:ea typeface="Arial"/>
                <a:cs typeface="Arial"/>
              </a:rPr>
              <a:t>Sécurité RLS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0D2441E-C888-466C-B94A-6F2E799F285D}"/>
              </a:ext>
            </a:extLst>
          </p:cNvPr>
          <p:cNvSpPr>
            <a:spLocks noGrp="1"/>
          </p:cNvSpPr>
          <p:nvPr/>
        </p:nvSpPr>
        <p:spPr>
          <a:xfrm>
            <a:off x="3886200" y="3048000"/>
            <a:ext cx="590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>
            <a:defPPr>
              <a:defRPr sz="900" b="1">
                <a:solidFill>
                  <a:srgbClr val="9BC7D8"/>
                </a:solidFill>
                <a:latin typeface="Arial"/>
                <a:ea typeface="Arial"/>
                <a:cs typeface="Arial"/>
              </a:defRPr>
            </a:defPPr>
            <a:lvl1pPr>
              <a:defRPr sz="900" b="1">
                <a:solidFill>
                  <a:srgbClr val="9BC7D8"/>
                </a:solidFill>
                <a:latin typeface="Arial"/>
                <a:ea typeface="Arial"/>
                <a:cs typeface="Arial"/>
              </a:defRPr>
            </a:lvl1pPr>
            <a:lvl2pPr>
              <a:defRPr sz="900" b="1">
                <a:solidFill>
                  <a:srgbClr val="9BC7D8"/>
                </a:solidFill>
                <a:latin typeface="Arial"/>
                <a:ea typeface="Arial"/>
                <a:cs typeface="Arial"/>
              </a:defRPr>
            </a:lvl2pPr>
            <a:lvl3pPr>
              <a:defRPr sz="900" b="1">
                <a:solidFill>
                  <a:srgbClr val="9BC7D8"/>
                </a:solidFill>
                <a:latin typeface="Arial"/>
                <a:ea typeface="Arial"/>
                <a:cs typeface="Arial"/>
              </a:defRPr>
            </a:lvl3pPr>
            <a:lvl4pPr>
              <a:defRPr sz="900" b="1">
                <a:solidFill>
                  <a:srgbClr val="9BC7D8"/>
                </a:solidFill>
                <a:latin typeface="Arial"/>
                <a:ea typeface="Arial"/>
                <a:cs typeface="Arial"/>
              </a:defRPr>
            </a:lvl4pPr>
            <a:lvl5pPr>
              <a:defRPr sz="900" b="1">
                <a:solidFill>
                  <a:srgbClr val="9BC7D8"/>
                </a:solidFill>
                <a:latin typeface="Arial"/>
                <a:ea typeface="Arial"/>
                <a:cs typeface="Arial"/>
              </a:defRPr>
            </a:lvl5pPr>
            <a:lvl6pPr>
              <a:defRPr sz="900" b="1">
                <a:solidFill>
                  <a:srgbClr val="9BC7D8"/>
                </a:solidFill>
                <a:latin typeface="Arial"/>
                <a:ea typeface="Arial"/>
                <a:cs typeface="Arial"/>
              </a:defRPr>
            </a:lvl6pPr>
            <a:lvl7pPr>
              <a:defRPr sz="900" b="1">
                <a:solidFill>
                  <a:srgbClr val="9BC7D8"/>
                </a:solidFill>
                <a:latin typeface="Arial"/>
                <a:ea typeface="Arial"/>
                <a:cs typeface="Arial"/>
              </a:defRPr>
            </a:lvl7pPr>
            <a:lvl8pPr>
              <a:defRPr sz="900" b="1">
                <a:solidFill>
                  <a:srgbClr val="9BC7D8"/>
                </a:solidFill>
                <a:latin typeface="Arial"/>
                <a:ea typeface="Arial"/>
                <a:cs typeface="Arial"/>
              </a:defRPr>
            </a:lvl8pPr>
            <a:lvl9pPr>
              <a:defRPr sz="900" b="1">
                <a:solidFill>
                  <a:srgbClr val="9BC7D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900" b="1">
                <a:solidFill>
                  <a:srgbClr val="9BC7D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9BC7D8"/>
                </a:solidFill>
                <a:latin typeface="Arial"/>
                <a:ea typeface="Arial"/>
                <a:cs typeface="Arial"/>
              </a:rPr>
              <a:t>JSON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C5BCE58-C93F-44B1-B23F-D1F837AF3442}"/>
              </a:ext>
            </a:extLst>
          </p:cNvPr>
          <p:cNvSpPr>
            <a:spLocks noGrp="1"/>
          </p:cNvSpPr>
          <p:nvPr/>
        </p:nvSpPr>
        <p:spPr>
          <a:xfrm>
            <a:off x="7686675" y="3048000"/>
            <a:ext cx="800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93579"/>
          </a:bodyPr>
          <a:lstStyle>
            <a:defPPr>
              <a:defRPr sz="900" b="1">
                <a:solidFill>
                  <a:srgbClr val="E3B38D"/>
                </a:solidFill>
                <a:latin typeface="Arial"/>
                <a:ea typeface="Arial"/>
                <a:cs typeface="Arial"/>
              </a:defRPr>
            </a:defPPr>
            <a:lvl1pPr>
              <a:defRPr sz="900" b="1">
                <a:solidFill>
                  <a:srgbClr val="E3B38D"/>
                </a:solidFill>
                <a:latin typeface="Arial"/>
                <a:ea typeface="Arial"/>
                <a:cs typeface="Arial"/>
              </a:defRPr>
            </a:lvl1pPr>
            <a:lvl2pPr>
              <a:defRPr sz="900" b="1">
                <a:solidFill>
                  <a:srgbClr val="E3B38D"/>
                </a:solidFill>
                <a:latin typeface="Arial"/>
                <a:ea typeface="Arial"/>
                <a:cs typeface="Arial"/>
              </a:defRPr>
            </a:lvl2pPr>
            <a:lvl3pPr>
              <a:defRPr sz="900" b="1">
                <a:solidFill>
                  <a:srgbClr val="E3B38D"/>
                </a:solidFill>
                <a:latin typeface="Arial"/>
                <a:ea typeface="Arial"/>
                <a:cs typeface="Arial"/>
              </a:defRPr>
            </a:lvl3pPr>
            <a:lvl4pPr>
              <a:defRPr sz="900" b="1">
                <a:solidFill>
                  <a:srgbClr val="E3B38D"/>
                </a:solidFill>
                <a:latin typeface="Arial"/>
                <a:ea typeface="Arial"/>
                <a:cs typeface="Arial"/>
              </a:defRPr>
            </a:lvl4pPr>
            <a:lvl5pPr>
              <a:defRPr sz="900" b="1">
                <a:solidFill>
                  <a:srgbClr val="E3B38D"/>
                </a:solidFill>
                <a:latin typeface="Arial"/>
                <a:ea typeface="Arial"/>
                <a:cs typeface="Arial"/>
              </a:defRPr>
            </a:lvl5pPr>
            <a:lvl6pPr>
              <a:defRPr sz="900" b="1">
                <a:solidFill>
                  <a:srgbClr val="E3B38D"/>
                </a:solidFill>
                <a:latin typeface="Arial"/>
                <a:ea typeface="Arial"/>
                <a:cs typeface="Arial"/>
              </a:defRPr>
            </a:lvl6pPr>
            <a:lvl7pPr>
              <a:defRPr sz="900" b="1">
                <a:solidFill>
                  <a:srgbClr val="E3B38D"/>
                </a:solidFill>
                <a:latin typeface="Arial"/>
                <a:ea typeface="Arial"/>
                <a:cs typeface="Arial"/>
              </a:defRPr>
            </a:lvl7pPr>
            <a:lvl8pPr>
              <a:defRPr sz="900" b="1">
                <a:solidFill>
                  <a:srgbClr val="E3B38D"/>
                </a:solidFill>
                <a:latin typeface="Arial"/>
                <a:ea typeface="Arial"/>
                <a:cs typeface="Arial"/>
              </a:defRPr>
            </a:lvl8pPr>
            <a:lvl9pPr>
              <a:defRPr sz="900" b="1">
                <a:solidFill>
                  <a:srgbClr val="E3B38D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900" b="1">
                <a:solidFill>
                  <a:srgbClr val="E3B38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3B38D"/>
                </a:solidFill>
                <a:latin typeface="Arial"/>
                <a:ea typeface="Arial"/>
                <a:cs typeface="Arial"/>
              </a:rPr>
              <a:t>supabase-js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3485718-A3DF-4E71-9874-90548FB58141}"/>
              </a:ext>
            </a:extLst>
          </p:cNvPr>
          <p:cNvSpPr>
            <a:spLocks noGrp="1"/>
          </p:cNvSpPr>
          <p:nvPr/>
        </p:nvSpPr>
        <p:spPr>
          <a:xfrm>
            <a:off x="1905000" y="5095875"/>
            <a:ext cx="8382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>
            <a:defPPr>
              <a:defRPr sz="1500" b="0">
                <a:solidFill>
                  <a:srgbClr val="D6E0E3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D6E0E3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D6E0E3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D6E0E3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D6E0E3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D6E0E3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D6E0E3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D6E0E3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D6E0E3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D6E0E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500" b="0">
                <a:solidFill>
                  <a:srgbClr val="D6E0E3"/>
                </a:solidFill>
                <a:latin typeface="Arial"/>
                <a:ea typeface="Arial"/>
                <a:cs typeface="Arial"/>
              </a:defRPr>
            </a:pPr>
            <a:r>
              <a:rPr sz="1500" b="0" dirty="0">
                <a:solidFill>
                  <a:srgbClr val="D6E0E3"/>
                </a:solidFill>
                <a:latin typeface="Arial"/>
                <a:ea typeface="Arial"/>
                <a:cs typeface="Arial"/>
              </a:rPr>
              <a:t>La </a:t>
            </a:r>
            <a:r>
              <a:rPr sz="1500" b="0" dirty="0" err="1">
                <a:solidFill>
                  <a:srgbClr val="D6E0E3"/>
                </a:solidFill>
                <a:latin typeface="Arial"/>
                <a:ea typeface="Arial"/>
                <a:cs typeface="Arial"/>
              </a:rPr>
              <a:t>clé</a:t>
            </a:r>
            <a:r>
              <a:rPr sz="1500" b="0" dirty="0">
                <a:solidFill>
                  <a:srgbClr val="D6E0E3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0" dirty="0" err="1">
                <a:solidFill>
                  <a:srgbClr val="D6E0E3"/>
                </a:solidFill>
                <a:latin typeface="Arial"/>
                <a:ea typeface="Arial"/>
                <a:cs typeface="Arial"/>
              </a:rPr>
              <a:t>Supabase</a:t>
            </a:r>
            <a:r>
              <a:rPr sz="1500" b="0" dirty="0">
                <a:solidFill>
                  <a:srgbClr val="D6E0E3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0" dirty="0" err="1">
                <a:solidFill>
                  <a:srgbClr val="D6E0E3"/>
                </a:solidFill>
                <a:latin typeface="Arial"/>
                <a:ea typeface="Arial"/>
                <a:cs typeface="Arial"/>
              </a:rPr>
              <a:t>reste</a:t>
            </a:r>
            <a:r>
              <a:rPr sz="1500" b="0" dirty="0">
                <a:solidFill>
                  <a:srgbClr val="D6E0E3"/>
                </a:solidFill>
                <a:latin typeface="Arial"/>
                <a:ea typeface="Arial"/>
                <a:cs typeface="Arial"/>
              </a:rPr>
              <a:t> dans les variables </a:t>
            </a:r>
            <a:r>
              <a:rPr sz="1500" b="0" dirty="0" err="1">
                <a:solidFill>
                  <a:srgbClr val="D6E0E3"/>
                </a:solidFill>
                <a:latin typeface="Arial"/>
                <a:ea typeface="Arial"/>
                <a:cs typeface="Arial"/>
              </a:rPr>
              <a:t>privées</a:t>
            </a:r>
            <a:r>
              <a:rPr sz="1500" b="0" dirty="0">
                <a:solidFill>
                  <a:srgbClr val="D6E0E3"/>
                </a:solidFill>
                <a:latin typeface="Arial"/>
                <a:ea typeface="Arial"/>
                <a:cs typeface="Arial"/>
              </a:rPr>
              <a:t> du </a:t>
            </a:r>
            <a:r>
              <a:rPr sz="1500" b="0" dirty="0" err="1">
                <a:solidFill>
                  <a:srgbClr val="D6E0E3"/>
                </a:solidFill>
                <a:latin typeface="Arial"/>
                <a:ea typeface="Arial"/>
                <a:cs typeface="Arial"/>
              </a:rPr>
              <a:t>projet</a:t>
            </a:r>
            <a:r>
              <a:rPr sz="1500" b="0" dirty="0">
                <a:solidFill>
                  <a:srgbClr val="D6E0E3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0" dirty="0" err="1">
                <a:solidFill>
                  <a:srgbClr val="D6E0E3"/>
                </a:solidFill>
                <a:latin typeface="Arial"/>
                <a:ea typeface="Arial"/>
                <a:cs typeface="Arial"/>
              </a:rPr>
              <a:t>Vercel</a:t>
            </a:r>
            <a:r>
              <a:rPr sz="1500" b="0" dirty="0">
                <a:solidFill>
                  <a:srgbClr val="D6E0E3"/>
                </a:solidFill>
                <a:latin typeface="Arial"/>
                <a:ea typeface="Arial"/>
                <a:cs typeface="Arial"/>
              </a:rPr>
              <a:t> de </a:t>
            </a:r>
            <a:r>
              <a:rPr sz="1500" b="0" dirty="0" err="1">
                <a:solidFill>
                  <a:srgbClr val="D6E0E3"/>
                </a:solidFill>
                <a:latin typeface="Arial"/>
                <a:ea typeface="Arial"/>
                <a:cs typeface="Arial"/>
              </a:rPr>
              <a:t>l’API</a:t>
            </a:r>
            <a:r>
              <a:rPr sz="1500" b="0" dirty="0">
                <a:solidFill>
                  <a:srgbClr val="D6E0E3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141BC27-595E-4E10-A464-340911923526}"/>
              </a:ext>
            </a:extLst>
          </p:cNvPr>
          <p:cNvSpPr>
            <a:spLocks noGrp="1"/>
          </p:cNvSpPr>
          <p:nvPr/>
        </p:nvSpPr>
        <p:spPr>
          <a:xfrm>
            <a:off x="609600" y="6448425"/>
            <a:ext cx="2476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85278" lnSpcReduction="20000"/>
          </a:bodyPr>
          <a:lstStyle>
            <a:defPPr>
              <a:defRPr sz="675" b="1">
                <a:solidFill>
                  <a:srgbClr val="FFFFFF">
                    <a:alpha val="47059"/>
                  </a:srgbClr>
                </a:solidFill>
                <a:latin typeface="Arial"/>
                <a:ea typeface="Arial"/>
                <a:cs typeface="Arial"/>
              </a:defRPr>
            </a:defPPr>
            <a:lvl1pPr>
              <a:defRPr sz="675" b="1">
                <a:solidFill>
                  <a:srgbClr val="FFFFFF">
                    <a:alpha val="47059"/>
                  </a:srgbClr>
                </a:solidFill>
                <a:latin typeface="Arial"/>
                <a:ea typeface="Arial"/>
                <a:cs typeface="Arial"/>
              </a:defRPr>
            </a:lvl1pPr>
            <a:lvl2pPr>
              <a:defRPr sz="675" b="1">
                <a:solidFill>
                  <a:srgbClr val="FFFFFF">
                    <a:alpha val="47059"/>
                  </a:srgbClr>
                </a:solidFill>
                <a:latin typeface="Arial"/>
                <a:ea typeface="Arial"/>
                <a:cs typeface="Arial"/>
              </a:defRPr>
            </a:lvl2pPr>
            <a:lvl3pPr>
              <a:defRPr sz="675" b="1">
                <a:solidFill>
                  <a:srgbClr val="FFFFFF">
                    <a:alpha val="47059"/>
                  </a:srgbClr>
                </a:solidFill>
                <a:latin typeface="Arial"/>
                <a:ea typeface="Arial"/>
                <a:cs typeface="Arial"/>
              </a:defRPr>
            </a:lvl3pPr>
            <a:lvl4pPr>
              <a:defRPr sz="675" b="1">
                <a:solidFill>
                  <a:srgbClr val="FFFFFF">
                    <a:alpha val="47059"/>
                  </a:srgbClr>
                </a:solidFill>
                <a:latin typeface="Arial"/>
                <a:ea typeface="Arial"/>
                <a:cs typeface="Arial"/>
              </a:defRPr>
            </a:lvl4pPr>
            <a:lvl5pPr>
              <a:defRPr sz="675" b="1">
                <a:solidFill>
                  <a:srgbClr val="FFFFFF">
                    <a:alpha val="47059"/>
                  </a:srgbClr>
                </a:solidFill>
                <a:latin typeface="Arial"/>
                <a:ea typeface="Arial"/>
                <a:cs typeface="Arial"/>
              </a:defRPr>
            </a:lvl5pPr>
            <a:lvl6pPr>
              <a:defRPr sz="675" b="1">
                <a:solidFill>
                  <a:srgbClr val="FFFFFF">
                    <a:alpha val="47059"/>
                  </a:srgbClr>
                </a:solidFill>
                <a:latin typeface="Arial"/>
                <a:ea typeface="Arial"/>
                <a:cs typeface="Arial"/>
              </a:defRPr>
            </a:lvl6pPr>
            <a:lvl7pPr>
              <a:defRPr sz="675" b="1">
                <a:solidFill>
                  <a:srgbClr val="FFFFFF">
                    <a:alpha val="47059"/>
                  </a:srgbClr>
                </a:solidFill>
                <a:latin typeface="Arial"/>
                <a:ea typeface="Arial"/>
                <a:cs typeface="Arial"/>
              </a:defRPr>
            </a:lvl7pPr>
            <a:lvl8pPr>
              <a:defRPr sz="675" b="1">
                <a:solidFill>
                  <a:srgbClr val="FFFFFF">
                    <a:alpha val="47059"/>
                  </a:srgbClr>
                </a:solidFill>
                <a:latin typeface="Arial"/>
                <a:ea typeface="Arial"/>
                <a:cs typeface="Arial"/>
              </a:defRPr>
            </a:lvl8pPr>
            <a:lvl9pPr>
              <a:defRPr sz="675" b="1">
                <a:solidFill>
                  <a:srgbClr val="FFFFFF">
                    <a:alpha val="47059"/>
                  </a:srgbClr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675" b="1">
                <a:solidFill>
                  <a:srgbClr val="FFFFFF">
                    <a:alpha val="47059"/>
                  </a:srgbClr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FFFFFF">
                    <a:alpha val="47059"/>
                  </a:srgbClr>
                </a:solidFill>
                <a:latin typeface="Arial"/>
                <a:ea typeface="Arial"/>
                <a:cs typeface="Arial"/>
              </a:rPr>
              <a:t>8.6 · LE COLLECTIF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A7E3BC6-7319-49D2-A11F-3FC16DF4A11B}"/>
              </a:ext>
            </a:extLst>
          </p:cNvPr>
          <p:cNvSpPr>
            <a:spLocks noGrp="1"/>
          </p:cNvSpPr>
          <p:nvPr/>
        </p:nvSpPr>
        <p:spPr>
          <a:xfrm>
            <a:off x="11144250" y="6448425"/>
            <a:ext cx="4286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85278" lnSpcReduction="20000"/>
          </a:bodyPr>
          <a:lstStyle>
            <a:defPPr>
              <a:defRPr sz="675" b="1">
                <a:solidFill>
                  <a:srgbClr val="FFFFFF">
                    <a:alpha val="47059"/>
                  </a:srgbClr>
                </a:solidFill>
                <a:latin typeface="Arial"/>
                <a:ea typeface="Arial"/>
                <a:cs typeface="Arial"/>
              </a:defRPr>
            </a:defPPr>
            <a:lvl1pPr>
              <a:defRPr sz="675" b="1">
                <a:solidFill>
                  <a:srgbClr val="FFFFFF">
                    <a:alpha val="47059"/>
                  </a:srgbClr>
                </a:solidFill>
                <a:latin typeface="Arial"/>
                <a:ea typeface="Arial"/>
                <a:cs typeface="Arial"/>
              </a:defRPr>
            </a:lvl1pPr>
            <a:lvl2pPr>
              <a:defRPr sz="675" b="1">
                <a:solidFill>
                  <a:srgbClr val="FFFFFF">
                    <a:alpha val="47059"/>
                  </a:srgbClr>
                </a:solidFill>
                <a:latin typeface="Arial"/>
                <a:ea typeface="Arial"/>
                <a:cs typeface="Arial"/>
              </a:defRPr>
            </a:lvl2pPr>
            <a:lvl3pPr>
              <a:defRPr sz="675" b="1">
                <a:solidFill>
                  <a:srgbClr val="FFFFFF">
                    <a:alpha val="47059"/>
                  </a:srgbClr>
                </a:solidFill>
                <a:latin typeface="Arial"/>
                <a:ea typeface="Arial"/>
                <a:cs typeface="Arial"/>
              </a:defRPr>
            </a:lvl3pPr>
            <a:lvl4pPr>
              <a:defRPr sz="675" b="1">
                <a:solidFill>
                  <a:srgbClr val="FFFFFF">
                    <a:alpha val="47059"/>
                  </a:srgbClr>
                </a:solidFill>
                <a:latin typeface="Arial"/>
                <a:ea typeface="Arial"/>
                <a:cs typeface="Arial"/>
              </a:defRPr>
            </a:lvl4pPr>
            <a:lvl5pPr>
              <a:defRPr sz="675" b="1">
                <a:solidFill>
                  <a:srgbClr val="FFFFFF">
                    <a:alpha val="47059"/>
                  </a:srgbClr>
                </a:solidFill>
                <a:latin typeface="Arial"/>
                <a:ea typeface="Arial"/>
                <a:cs typeface="Arial"/>
              </a:defRPr>
            </a:lvl5pPr>
            <a:lvl6pPr>
              <a:defRPr sz="675" b="1">
                <a:solidFill>
                  <a:srgbClr val="FFFFFF">
                    <a:alpha val="47059"/>
                  </a:srgbClr>
                </a:solidFill>
                <a:latin typeface="Arial"/>
                <a:ea typeface="Arial"/>
                <a:cs typeface="Arial"/>
              </a:defRPr>
            </a:lvl6pPr>
            <a:lvl7pPr>
              <a:defRPr sz="675" b="1">
                <a:solidFill>
                  <a:srgbClr val="FFFFFF">
                    <a:alpha val="47059"/>
                  </a:srgbClr>
                </a:solidFill>
                <a:latin typeface="Arial"/>
                <a:ea typeface="Arial"/>
                <a:cs typeface="Arial"/>
              </a:defRPr>
            </a:lvl7pPr>
            <a:lvl8pPr>
              <a:defRPr sz="675" b="1">
                <a:solidFill>
                  <a:srgbClr val="FFFFFF">
                    <a:alpha val="47059"/>
                  </a:srgbClr>
                </a:solidFill>
                <a:latin typeface="Arial"/>
                <a:ea typeface="Arial"/>
                <a:cs typeface="Arial"/>
              </a:defRPr>
            </a:lvl8pPr>
            <a:lvl9pPr>
              <a:defRPr sz="675" b="1">
                <a:solidFill>
                  <a:srgbClr val="FFFFFF">
                    <a:alpha val="47059"/>
                  </a:srgbClr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675" b="1">
                <a:solidFill>
                  <a:srgbClr val="FFFFFF">
                    <a:alpha val="47059"/>
                  </a:srgbClr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FFFFFF">
                    <a:alpha val="47059"/>
                  </a:srgbClr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631434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9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4D298CA-71E9-4200-8557-A858A2A83C57}"/>
              </a:ext>
            </a:extLst>
          </p:cNvPr>
          <p:cNvSpPr>
            <a:spLocks noGrp="1"/>
          </p:cNvSpPr>
          <p:nvPr/>
        </p:nvSpPr>
        <p:spPr>
          <a:xfrm>
            <a:off x="609600" y="428625"/>
            <a:ext cx="5143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>
            <a:defPPr>
              <a:defRPr sz="975" b="1">
                <a:solidFill>
                  <a:srgbClr val="ED6639"/>
                </a:solidFill>
                <a:latin typeface="Arial"/>
                <a:ea typeface="Arial"/>
                <a:cs typeface="Arial"/>
              </a:defRPr>
            </a:defPPr>
            <a:lvl1pPr>
              <a:defRPr sz="975" b="1">
                <a:solidFill>
                  <a:srgbClr val="ED6639"/>
                </a:solidFill>
                <a:latin typeface="Arial"/>
                <a:ea typeface="Arial"/>
                <a:cs typeface="Arial"/>
              </a:defRPr>
            </a:lvl1pPr>
            <a:lvl2pPr>
              <a:defRPr sz="975" b="1">
                <a:solidFill>
                  <a:srgbClr val="ED6639"/>
                </a:solidFill>
                <a:latin typeface="Arial"/>
                <a:ea typeface="Arial"/>
                <a:cs typeface="Arial"/>
              </a:defRPr>
            </a:lvl2pPr>
            <a:lvl3pPr>
              <a:defRPr sz="975" b="1">
                <a:solidFill>
                  <a:srgbClr val="ED6639"/>
                </a:solidFill>
                <a:latin typeface="Arial"/>
                <a:ea typeface="Arial"/>
                <a:cs typeface="Arial"/>
              </a:defRPr>
            </a:lvl3pPr>
            <a:lvl4pPr>
              <a:defRPr sz="975" b="1">
                <a:solidFill>
                  <a:srgbClr val="ED6639"/>
                </a:solidFill>
                <a:latin typeface="Arial"/>
                <a:ea typeface="Arial"/>
                <a:cs typeface="Arial"/>
              </a:defRPr>
            </a:lvl4pPr>
            <a:lvl5pPr>
              <a:defRPr sz="975" b="1">
                <a:solidFill>
                  <a:srgbClr val="ED6639"/>
                </a:solidFill>
                <a:latin typeface="Arial"/>
                <a:ea typeface="Arial"/>
                <a:cs typeface="Arial"/>
              </a:defRPr>
            </a:lvl5pPr>
            <a:lvl6pPr>
              <a:defRPr sz="975" b="1">
                <a:solidFill>
                  <a:srgbClr val="ED6639"/>
                </a:solidFill>
                <a:latin typeface="Arial"/>
                <a:ea typeface="Arial"/>
                <a:cs typeface="Arial"/>
              </a:defRPr>
            </a:lvl6pPr>
            <a:lvl7pPr>
              <a:defRPr sz="975" b="1">
                <a:solidFill>
                  <a:srgbClr val="ED6639"/>
                </a:solidFill>
                <a:latin typeface="Arial"/>
                <a:ea typeface="Arial"/>
                <a:cs typeface="Arial"/>
              </a:defRPr>
            </a:lvl7pPr>
            <a:lvl8pPr>
              <a:defRPr sz="975" b="1">
                <a:solidFill>
                  <a:srgbClr val="ED6639"/>
                </a:solidFill>
                <a:latin typeface="Arial"/>
                <a:ea typeface="Arial"/>
                <a:cs typeface="Arial"/>
              </a:defRPr>
            </a:lvl8pPr>
            <a:lvl9pPr>
              <a:defRPr sz="975" b="1">
                <a:solidFill>
                  <a:srgbClr val="ED6639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975" b="1">
                <a:solidFill>
                  <a:srgbClr val="ED663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ED663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9259010-0BDD-4BEF-8DC3-6DE1B9F7259A}"/>
              </a:ext>
            </a:extLst>
          </p:cNvPr>
          <p:cNvSpPr>
            <a:spLocks noGrp="1"/>
          </p:cNvSpPr>
          <p:nvPr/>
        </p:nvSpPr>
        <p:spPr>
          <a:xfrm>
            <a:off x="1219200" y="352425"/>
            <a:ext cx="9525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>
            <a:defPPr>
              <a:defRPr sz="2400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400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1D19"/>
                </a:solidFill>
                <a:latin typeface="Arial"/>
                <a:ea typeface="Arial"/>
                <a:cs typeface="Arial"/>
              </a:rPr>
              <a:t>La table Supabase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116ECD0-5A99-4358-BB57-70FC2D427F47}"/>
              </a:ext>
            </a:extLst>
          </p:cNvPr>
          <p:cNvSpPr>
            <a:spLocks noGrp="1"/>
          </p:cNvSpPr>
          <p:nvPr/>
        </p:nvSpPr>
        <p:spPr>
          <a:xfrm>
            <a:off x="609600" y="990600"/>
            <a:ext cx="10972800" cy="9525"/>
          </a:xfrm>
          <a:prstGeom prst="rect">
            <a:avLst/>
          </a:prstGeom>
          <a:solidFill>
            <a:srgbClr val="CDD0C7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E595EAB-05C4-4F63-AD59-4A6BEA112A87}"/>
              </a:ext>
            </a:extLst>
          </p:cNvPr>
          <p:cNvSpPr>
            <a:spLocks noGrp="1"/>
          </p:cNvSpPr>
          <p:nvPr/>
        </p:nvSpPr>
        <p:spPr>
          <a:xfrm>
            <a:off x="609600" y="1219200"/>
            <a:ext cx="6667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>
            <a:defPPr>
              <a:defRPr sz="2700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defPPr>
            <a:lvl1pPr>
              <a:defRPr sz="2700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lvl1pPr>
            <a:lvl2pPr>
              <a:defRPr sz="2700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lvl2pPr>
            <a:lvl3pPr>
              <a:defRPr sz="2700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lvl3pPr>
            <a:lvl4pPr>
              <a:defRPr sz="2700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lvl4pPr>
            <a:lvl5pPr>
              <a:defRPr sz="2700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lvl5pPr>
            <a:lvl6pPr>
              <a:defRPr sz="2700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lvl6pPr>
            <a:lvl7pPr>
              <a:defRPr sz="2700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lvl7pPr>
            <a:lvl8pPr>
              <a:defRPr sz="2700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lvl8pPr>
            <a:lvl9pPr>
              <a:defRPr sz="2700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700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1D19"/>
                </a:solidFill>
                <a:latin typeface="Arial"/>
                <a:ea typeface="Arial"/>
                <a:cs typeface="Arial"/>
              </a:rPr>
              <a:t>Six colonnes, dont le booléen demandé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B5D3F93-8C63-4537-B30A-5AB6D5CA6AB8}"/>
              </a:ext>
            </a:extLst>
          </p:cNvPr>
          <p:cNvGraphicFramePr/>
          <p:nvPr/>
        </p:nvGraphicFramePr>
        <p:xfrm>
          <a:off x="609600" y="2000250"/>
          <a:ext cx="8048625" cy="3476627"/>
        </p:xfrm>
        <a:graphic>
          <a:graphicData uri="http://schemas.openxmlformats.org/drawingml/2006/table">
            <a:tbl>
              <a:tblPr/>
              <a:tblGrid>
                <a:gridCol w="200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8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19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6661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5F2E9"/>
                          </a:solidFill>
                          <a:latin typeface="Arial"/>
                          <a:ea typeface="Arial"/>
                          <a:cs typeface="Arial"/>
                        </a:rPr>
                        <a:t>Colonne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DD0C7"/>
                      </a:solidFill>
                      <a:prstDash val="solid"/>
                    </a:lnL>
                    <a:lnR w="9525">
                      <a:solidFill>
                        <a:srgbClr val="CDD0C7"/>
                      </a:solidFill>
                      <a:prstDash val="solid"/>
                    </a:lnR>
                    <a:lnT w="9525">
                      <a:solidFill>
                        <a:srgbClr val="CDD0C7"/>
                      </a:solidFill>
                      <a:prstDash val="solid"/>
                    </a:lnT>
                    <a:lnB w="9525">
                      <a:solidFill>
                        <a:srgbClr val="CDD0C7"/>
                      </a:solidFill>
                      <a:prstDash val="solid"/>
                    </a:lnB>
                    <a:solidFill>
                      <a:srgbClr val="171D1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5F2E9"/>
                          </a:solidFill>
                          <a:latin typeface="Arial"/>
                          <a:ea typeface="Arial"/>
                          <a:cs typeface="Arial"/>
                        </a:rPr>
                        <a:t>Type</a:t>
                      </a:r>
                    </a:p>
                  </a:txBody>
                  <a:tcPr marL="114300" marR="114300" marT="76200" marB="76200">
                    <a:lnL w="9525" cap="flat" cmpd="sng" algn="ctr">
                      <a:solidFill>
                        <a:srgbClr val="CDD0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DD0C7"/>
                      </a:solidFill>
                      <a:prstDash val="solid"/>
                    </a:lnR>
                    <a:lnT w="9525">
                      <a:solidFill>
                        <a:srgbClr val="CDD0C7"/>
                      </a:solidFill>
                      <a:prstDash val="solid"/>
                    </a:lnT>
                    <a:lnB w="9525">
                      <a:solidFill>
                        <a:srgbClr val="CDD0C7"/>
                      </a:solidFill>
                      <a:prstDash val="solid"/>
                    </a:lnB>
                    <a:solidFill>
                      <a:srgbClr val="171D1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5F2E9"/>
                          </a:solidFill>
                          <a:latin typeface="Arial"/>
                          <a:ea typeface="Arial"/>
                          <a:cs typeface="Arial"/>
                        </a:rPr>
                        <a:t>Rôle</a:t>
                      </a:r>
                    </a:p>
                  </a:txBody>
                  <a:tcPr marL="114300" marR="114300" marT="76200" marB="76200">
                    <a:lnL w="9525" cap="flat" cmpd="sng" algn="ctr">
                      <a:solidFill>
                        <a:srgbClr val="CDD0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DD0C7"/>
                      </a:solidFill>
                      <a:prstDash val="solid"/>
                    </a:lnR>
                    <a:lnT w="9525">
                      <a:solidFill>
                        <a:srgbClr val="CDD0C7"/>
                      </a:solidFill>
                      <a:prstDash val="solid"/>
                    </a:lnT>
                    <a:lnB w="9525">
                      <a:solidFill>
                        <a:srgbClr val="CDD0C7"/>
                      </a:solidFill>
                      <a:prstDash val="solid"/>
                    </a:lnB>
                    <a:solidFill>
                      <a:srgbClr val="171D1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6661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1D19"/>
                          </a:solidFill>
                          <a:latin typeface="Arial"/>
                          <a:ea typeface="Arial"/>
                          <a:cs typeface="Arial"/>
                        </a:rPr>
                        <a:t>id</a:t>
                      </a:r>
                    </a:p>
                  </a:txBody>
                  <a:tcPr marL="114300" marR="114300" marT="66675" marB="66675">
                    <a:lnL w="9525">
                      <a:solidFill>
                        <a:srgbClr val="CDD0C7"/>
                      </a:solidFill>
                      <a:prstDash val="solid"/>
                    </a:lnL>
                    <a:lnR w="9525">
                      <a:solidFill>
                        <a:srgbClr val="CDD0C7"/>
                      </a:solidFill>
                      <a:prstDash val="solid"/>
                    </a:lnR>
                    <a:lnT w="9525" cap="flat" cmpd="sng" algn="ctr">
                      <a:solidFill>
                        <a:srgbClr val="CDD0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0C7"/>
                      </a:solidFill>
                      <a:prstDash val="soli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1D19"/>
                          </a:solidFill>
                          <a:latin typeface="Arial"/>
                          <a:ea typeface="Arial"/>
                          <a:cs typeface="Arial"/>
                        </a:rPr>
                        <a:t>uuid</a:t>
                      </a:r>
                    </a:p>
                  </a:txBody>
                  <a:tcPr marL="114300" marR="114300" marT="66675" marB="66675">
                    <a:lnL w="9525" cap="flat" cmpd="sng" algn="ctr">
                      <a:solidFill>
                        <a:srgbClr val="CDD0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DD0C7"/>
                      </a:solidFill>
                      <a:prstDash val="solid"/>
                    </a:lnR>
                    <a:lnT w="9525" cap="flat" cmpd="sng" algn="ctr">
                      <a:solidFill>
                        <a:srgbClr val="CDD0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0C7"/>
                      </a:solidFill>
                      <a:prstDash val="soli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1D19"/>
                          </a:solidFill>
                          <a:latin typeface="Arial"/>
                          <a:ea typeface="Arial"/>
                          <a:cs typeface="Arial"/>
                        </a:rPr>
                        <a:t>Identifiant unique</a:t>
                      </a:r>
                    </a:p>
                  </a:txBody>
                  <a:tcPr marL="114300" marR="114300" marT="66675" marB="66675">
                    <a:lnL w="9525" cap="flat" cmpd="sng" algn="ctr">
                      <a:solidFill>
                        <a:srgbClr val="CDD0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DD0C7"/>
                      </a:solidFill>
                      <a:prstDash val="solid"/>
                    </a:lnR>
                    <a:lnT w="9525" cap="flat" cmpd="sng" algn="ctr">
                      <a:solidFill>
                        <a:srgbClr val="CDD0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0C7"/>
                      </a:solidFill>
                      <a:prstDash val="solid"/>
                    </a:lnB>
                    <a:solidFill>
                      <a:srgbClr val="F8F6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6661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1D19"/>
                          </a:solidFill>
                          <a:latin typeface="Arial"/>
                          <a:ea typeface="Arial"/>
                          <a:cs typeface="Arial"/>
                        </a:rPr>
                        <a:t>nom</a:t>
                      </a:r>
                    </a:p>
                  </a:txBody>
                  <a:tcPr marL="114300" marR="114300" marT="66675" marB="66675">
                    <a:lnL w="9525">
                      <a:solidFill>
                        <a:srgbClr val="CDD0C7"/>
                      </a:solidFill>
                      <a:prstDash val="solid"/>
                    </a:lnL>
                    <a:lnR w="9525">
                      <a:solidFill>
                        <a:srgbClr val="CDD0C7"/>
                      </a:solidFill>
                      <a:prstDash val="solid"/>
                    </a:lnR>
                    <a:lnT w="9525" cap="flat" cmpd="sng" algn="ctr">
                      <a:solidFill>
                        <a:srgbClr val="CDD0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0C7"/>
                      </a:solidFill>
                      <a:prstDash val="soli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1D19"/>
                          </a:solidFill>
                          <a:latin typeface="Arial"/>
                          <a:ea typeface="Arial"/>
                          <a:cs typeface="Arial"/>
                        </a:rPr>
                        <a:t>text</a:t>
                      </a:r>
                    </a:p>
                  </a:txBody>
                  <a:tcPr marL="114300" marR="114300" marT="66675" marB="66675">
                    <a:lnL w="9525" cap="flat" cmpd="sng" algn="ctr">
                      <a:solidFill>
                        <a:srgbClr val="CDD0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DD0C7"/>
                      </a:solidFill>
                      <a:prstDash val="solid"/>
                    </a:lnR>
                    <a:lnT w="9525" cap="flat" cmpd="sng" algn="ctr">
                      <a:solidFill>
                        <a:srgbClr val="CDD0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0C7"/>
                      </a:solidFill>
                      <a:prstDash val="soli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1D19"/>
                          </a:solidFill>
                          <a:latin typeface="Arial"/>
                          <a:ea typeface="Arial"/>
                          <a:cs typeface="Arial"/>
                        </a:rPr>
                        <a:t>Nom affiché dans le catalogue</a:t>
                      </a:r>
                    </a:p>
                  </a:txBody>
                  <a:tcPr marL="114300" marR="114300" marT="66675" marB="66675">
                    <a:lnL w="9525" cap="flat" cmpd="sng" algn="ctr">
                      <a:solidFill>
                        <a:srgbClr val="CDD0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DD0C7"/>
                      </a:solidFill>
                      <a:prstDash val="solid"/>
                    </a:lnR>
                    <a:lnT w="9525" cap="flat" cmpd="sng" algn="ctr">
                      <a:solidFill>
                        <a:srgbClr val="CDD0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0C7"/>
                      </a:solidFill>
                      <a:prstDash val="solid"/>
                    </a:lnB>
                    <a:solidFill>
                      <a:srgbClr val="F8F6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6661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1D19"/>
                          </a:solidFill>
                          <a:latin typeface="Arial"/>
                          <a:ea typeface="Arial"/>
                          <a:cs typeface="Arial"/>
                        </a:rPr>
                        <a:t>prix</a:t>
                      </a:r>
                    </a:p>
                  </a:txBody>
                  <a:tcPr marL="114300" marR="114300" marT="66675" marB="66675">
                    <a:lnL w="9525">
                      <a:solidFill>
                        <a:srgbClr val="CDD0C7"/>
                      </a:solidFill>
                      <a:prstDash val="solid"/>
                    </a:lnL>
                    <a:lnR w="9525">
                      <a:solidFill>
                        <a:srgbClr val="CDD0C7"/>
                      </a:solidFill>
                      <a:prstDash val="solid"/>
                    </a:lnR>
                    <a:lnT w="9525" cap="flat" cmpd="sng" algn="ctr">
                      <a:solidFill>
                        <a:srgbClr val="CDD0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0C7"/>
                      </a:solidFill>
                      <a:prstDash val="soli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1D19"/>
                          </a:solidFill>
                          <a:latin typeface="Arial"/>
                          <a:ea typeface="Arial"/>
                          <a:cs typeface="Arial"/>
                        </a:rPr>
                        <a:t>numeric(6,2)</a:t>
                      </a:r>
                    </a:p>
                  </a:txBody>
                  <a:tcPr marL="114300" marR="114300" marT="66675" marB="66675">
                    <a:lnL w="9525" cap="flat" cmpd="sng" algn="ctr">
                      <a:solidFill>
                        <a:srgbClr val="CDD0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DD0C7"/>
                      </a:solidFill>
                      <a:prstDash val="solid"/>
                    </a:lnR>
                    <a:lnT w="9525" cap="flat" cmpd="sng" algn="ctr">
                      <a:solidFill>
                        <a:srgbClr val="CDD0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0C7"/>
                      </a:solidFill>
                      <a:prstDash val="soli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1D19"/>
                          </a:solidFill>
                          <a:latin typeface="Arial"/>
                          <a:ea typeface="Arial"/>
                          <a:cs typeface="Arial"/>
                        </a:rPr>
                        <a:t>Prix fictif</a:t>
                      </a:r>
                    </a:p>
                  </a:txBody>
                  <a:tcPr marL="114300" marR="114300" marT="66675" marB="66675">
                    <a:lnL w="9525" cap="flat" cmpd="sng" algn="ctr">
                      <a:solidFill>
                        <a:srgbClr val="CDD0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DD0C7"/>
                      </a:solidFill>
                      <a:prstDash val="solid"/>
                    </a:lnR>
                    <a:lnT w="9525" cap="flat" cmpd="sng" algn="ctr">
                      <a:solidFill>
                        <a:srgbClr val="CDD0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0C7"/>
                      </a:solidFill>
                      <a:prstDash val="solid"/>
                    </a:lnB>
                    <a:solidFill>
                      <a:srgbClr val="F8F6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6661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1D19"/>
                          </a:solidFill>
                          <a:latin typeface="Arial"/>
                          <a:ea typeface="Arial"/>
                          <a:cs typeface="Arial"/>
                        </a:rPr>
                        <a:t>categorie</a:t>
                      </a:r>
                    </a:p>
                  </a:txBody>
                  <a:tcPr marL="114300" marR="114300" marT="66675" marB="66675">
                    <a:lnL w="9525">
                      <a:solidFill>
                        <a:srgbClr val="CDD0C7"/>
                      </a:solidFill>
                      <a:prstDash val="solid"/>
                    </a:lnL>
                    <a:lnR w="9525">
                      <a:solidFill>
                        <a:srgbClr val="CDD0C7"/>
                      </a:solidFill>
                      <a:prstDash val="solid"/>
                    </a:lnR>
                    <a:lnT w="9525" cap="flat" cmpd="sng" algn="ctr">
                      <a:solidFill>
                        <a:srgbClr val="CDD0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0C7"/>
                      </a:solidFill>
                      <a:prstDash val="soli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1D19"/>
                          </a:solidFill>
                          <a:latin typeface="Arial"/>
                          <a:ea typeface="Arial"/>
                          <a:cs typeface="Arial"/>
                        </a:rPr>
                        <a:t>text</a:t>
                      </a:r>
                    </a:p>
                  </a:txBody>
                  <a:tcPr marL="114300" marR="114300" marT="66675" marB="66675">
                    <a:lnL w="9525" cap="flat" cmpd="sng" algn="ctr">
                      <a:solidFill>
                        <a:srgbClr val="CDD0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DD0C7"/>
                      </a:solidFill>
                      <a:prstDash val="solid"/>
                    </a:lnR>
                    <a:lnT w="9525" cap="flat" cmpd="sng" algn="ctr">
                      <a:solidFill>
                        <a:srgbClr val="CDD0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0C7"/>
                      </a:solidFill>
                      <a:prstDash val="soli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1D19"/>
                          </a:solidFill>
                          <a:latin typeface="Arial"/>
                          <a:ea typeface="Arial"/>
                          <a:cs typeface="Arial"/>
                        </a:rPr>
                        <a:t>Original, Gold ou Red</a:t>
                      </a:r>
                    </a:p>
                  </a:txBody>
                  <a:tcPr marL="114300" marR="114300" marT="66675" marB="66675">
                    <a:lnL w="9525" cap="flat" cmpd="sng" algn="ctr">
                      <a:solidFill>
                        <a:srgbClr val="CDD0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DD0C7"/>
                      </a:solidFill>
                      <a:prstDash val="solid"/>
                    </a:lnR>
                    <a:lnT w="9525" cap="flat" cmpd="sng" algn="ctr">
                      <a:solidFill>
                        <a:srgbClr val="CDD0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0C7"/>
                      </a:solidFill>
                      <a:prstDash val="solid"/>
                    </a:lnB>
                    <a:solidFill>
                      <a:srgbClr val="F8F6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6661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1D19"/>
                          </a:solidFill>
                          <a:latin typeface="Arial"/>
                          <a:ea typeface="Arial"/>
                          <a:cs typeface="Arial"/>
                        </a:rPr>
                        <a:t>image_url</a:t>
                      </a:r>
                    </a:p>
                  </a:txBody>
                  <a:tcPr marL="114300" marR="114300" marT="66675" marB="66675">
                    <a:lnL w="9525">
                      <a:solidFill>
                        <a:srgbClr val="CDD0C7"/>
                      </a:solidFill>
                      <a:prstDash val="solid"/>
                    </a:lnL>
                    <a:lnR w="9525">
                      <a:solidFill>
                        <a:srgbClr val="CDD0C7"/>
                      </a:solidFill>
                      <a:prstDash val="solid"/>
                    </a:lnR>
                    <a:lnT w="9525" cap="flat" cmpd="sng" algn="ctr">
                      <a:solidFill>
                        <a:srgbClr val="CDD0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0C7"/>
                      </a:solidFill>
                      <a:prstDash val="soli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1D19"/>
                          </a:solidFill>
                          <a:latin typeface="Arial"/>
                          <a:ea typeface="Arial"/>
                          <a:cs typeface="Arial"/>
                        </a:rPr>
                        <a:t>text</a:t>
                      </a:r>
                    </a:p>
                  </a:txBody>
                  <a:tcPr marL="114300" marR="114300" marT="66675" marB="66675">
                    <a:lnL w="9525" cap="flat" cmpd="sng" algn="ctr">
                      <a:solidFill>
                        <a:srgbClr val="CDD0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DD0C7"/>
                      </a:solidFill>
                      <a:prstDash val="solid"/>
                    </a:lnR>
                    <a:lnT w="9525" cap="flat" cmpd="sng" algn="ctr">
                      <a:solidFill>
                        <a:srgbClr val="CDD0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0C7"/>
                      </a:solidFill>
                      <a:prstDash val="soli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1D19"/>
                          </a:solidFill>
                          <a:latin typeface="Arial"/>
                          <a:ea typeface="Arial"/>
                          <a:cs typeface="Arial"/>
                        </a:rPr>
                        <a:t>Chemin de l’image</a:t>
                      </a:r>
                    </a:p>
                  </a:txBody>
                  <a:tcPr marL="114300" marR="114300" marT="66675" marB="66675">
                    <a:lnL w="9525" cap="flat" cmpd="sng" algn="ctr">
                      <a:solidFill>
                        <a:srgbClr val="CDD0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DD0C7"/>
                      </a:solidFill>
                      <a:prstDash val="solid"/>
                    </a:lnR>
                    <a:lnT w="9525" cap="flat" cmpd="sng" algn="ctr">
                      <a:solidFill>
                        <a:srgbClr val="CDD0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0C7"/>
                      </a:solidFill>
                      <a:prstDash val="solid"/>
                    </a:lnB>
                    <a:solidFill>
                      <a:srgbClr val="F8F6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6661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1D19"/>
                          </a:solidFill>
                          <a:latin typeface="Arial"/>
                          <a:ea typeface="Arial"/>
                          <a:cs typeface="Arial"/>
                        </a:rPr>
                        <a:t>disponible</a:t>
                      </a:r>
                    </a:p>
                  </a:txBody>
                  <a:tcPr marL="114300" marR="114300" marT="66675" marB="66675">
                    <a:lnL w="9525">
                      <a:solidFill>
                        <a:srgbClr val="CDD0C7"/>
                      </a:solidFill>
                      <a:prstDash val="solid"/>
                    </a:lnL>
                    <a:lnR w="9525">
                      <a:solidFill>
                        <a:srgbClr val="CDD0C7"/>
                      </a:solidFill>
                      <a:prstDash val="solid"/>
                    </a:lnR>
                    <a:lnT w="9525" cap="flat" cmpd="sng" algn="ctr">
                      <a:solidFill>
                        <a:srgbClr val="CDD0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0C7"/>
                      </a:solidFill>
                      <a:prstDash val="solid"/>
                    </a:lnB>
                    <a:solidFill>
                      <a:srgbClr val="E5EAD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1D19"/>
                          </a:solidFill>
                          <a:latin typeface="Arial"/>
                          <a:ea typeface="Arial"/>
                          <a:cs typeface="Arial"/>
                        </a:rPr>
                        <a:t>boolean</a:t>
                      </a:r>
                    </a:p>
                  </a:txBody>
                  <a:tcPr marL="114300" marR="114300" marT="66675" marB="66675">
                    <a:lnL w="9525" cap="flat" cmpd="sng" algn="ctr">
                      <a:solidFill>
                        <a:srgbClr val="CDD0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DD0C7"/>
                      </a:solidFill>
                      <a:prstDash val="solid"/>
                    </a:lnR>
                    <a:lnT w="9525" cap="flat" cmpd="sng" algn="ctr">
                      <a:solidFill>
                        <a:srgbClr val="CDD0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0C7"/>
                      </a:solidFill>
                      <a:prstDash val="solid"/>
                    </a:lnB>
                    <a:solidFill>
                      <a:srgbClr val="E5EAD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1D19"/>
                          </a:solidFill>
                          <a:latin typeface="Arial"/>
                          <a:ea typeface="Arial"/>
                          <a:cs typeface="Arial"/>
                        </a:rPr>
                        <a:t>Grise une référence indisponible</a:t>
                      </a:r>
                    </a:p>
                  </a:txBody>
                  <a:tcPr marL="114300" marR="114300" marT="66675" marB="66675">
                    <a:lnL w="9525" cap="flat" cmpd="sng" algn="ctr">
                      <a:solidFill>
                        <a:srgbClr val="CDD0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DD0C7"/>
                      </a:solidFill>
                      <a:prstDash val="solid"/>
                    </a:lnR>
                    <a:lnT w="9525" cap="flat" cmpd="sng" algn="ctr">
                      <a:solidFill>
                        <a:srgbClr val="CDD0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0C7"/>
                      </a:solidFill>
                      <a:prstDash val="solid"/>
                    </a:lnB>
                    <a:solidFill>
                      <a:srgbClr val="E5EA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2AB7FE1A-BB7F-465A-9026-7C3F9AB91B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403508" y="1714500"/>
            <a:ext cx="1671735" cy="409575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9C48260C-3FD6-481F-895B-8F106053BA58}"/>
              </a:ext>
            </a:extLst>
          </p:cNvPr>
          <p:cNvSpPr>
            <a:spLocks noGrp="1"/>
          </p:cNvSpPr>
          <p:nvPr/>
        </p:nvSpPr>
        <p:spPr>
          <a:xfrm>
            <a:off x="609600" y="6448425"/>
            <a:ext cx="2476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85278" lnSpcReduction="20000"/>
          </a:bodyPr>
          <a:lstStyle>
            <a:defPPr>
              <a:defRPr sz="675" b="1">
                <a:solidFill>
                  <a:srgbClr val="6E7568">
                    <a:alpha val="53333"/>
                  </a:srgbClr>
                </a:solidFill>
                <a:latin typeface="Arial"/>
                <a:ea typeface="Arial"/>
                <a:cs typeface="Arial"/>
              </a:defRPr>
            </a:defPPr>
            <a:lvl1pPr>
              <a:defRPr sz="675" b="1">
                <a:solidFill>
                  <a:srgbClr val="6E7568">
                    <a:alpha val="53333"/>
                  </a:srgbClr>
                </a:solidFill>
                <a:latin typeface="Arial"/>
                <a:ea typeface="Arial"/>
                <a:cs typeface="Arial"/>
              </a:defRPr>
            </a:lvl1pPr>
            <a:lvl2pPr>
              <a:defRPr sz="675" b="1">
                <a:solidFill>
                  <a:srgbClr val="6E7568">
                    <a:alpha val="53333"/>
                  </a:srgbClr>
                </a:solidFill>
                <a:latin typeface="Arial"/>
                <a:ea typeface="Arial"/>
                <a:cs typeface="Arial"/>
              </a:defRPr>
            </a:lvl2pPr>
            <a:lvl3pPr>
              <a:defRPr sz="675" b="1">
                <a:solidFill>
                  <a:srgbClr val="6E7568">
                    <a:alpha val="53333"/>
                  </a:srgbClr>
                </a:solidFill>
                <a:latin typeface="Arial"/>
                <a:ea typeface="Arial"/>
                <a:cs typeface="Arial"/>
              </a:defRPr>
            </a:lvl3pPr>
            <a:lvl4pPr>
              <a:defRPr sz="675" b="1">
                <a:solidFill>
                  <a:srgbClr val="6E7568">
                    <a:alpha val="53333"/>
                  </a:srgbClr>
                </a:solidFill>
                <a:latin typeface="Arial"/>
                <a:ea typeface="Arial"/>
                <a:cs typeface="Arial"/>
              </a:defRPr>
            </a:lvl4pPr>
            <a:lvl5pPr>
              <a:defRPr sz="675" b="1">
                <a:solidFill>
                  <a:srgbClr val="6E7568">
                    <a:alpha val="53333"/>
                  </a:srgbClr>
                </a:solidFill>
                <a:latin typeface="Arial"/>
                <a:ea typeface="Arial"/>
                <a:cs typeface="Arial"/>
              </a:defRPr>
            </a:lvl5pPr>
            <a:lvl6pPr>
              <a:defRPr sz="675" b="1">
                <a:solidFill>
                  <a:srgbClr val="6E7568">
                    <a:alpha val="53333"/>
                  </a:srgbClr>
                </a:solidFill>
                <a:latin typeface="Arial"/>
                <a:ea typeface="Arial"/>
                <a:cs typeface="Arial"/>
              </a:defRPr>
            </a:lvl6pPr>
            <a:lvl7pPr>
              <a:defRPr sz="675" b="1">
                <a:solidFill>
                  <a:srgbClr val="6E7568">
                    <a:alpha val="53333"/>
                  </a:srgbClr>
                </a:solidFill>
                <a:latin typeface="Arial"/>
                <a:ea typeface="Arial"/>
                <a:cs typeface="Arial"/>
              </a:defRPr>
            </a:lvl7pPr>
            <a:lvl8pPr>
              <a:defRPr sz="675" b="1">
                <a:solidFill>
                  <a:srgbClr val="6E7568">
                    <a:alpha val="53333"/>
                  </a:srgbClr>
                </a:solidFill>
                <a:latin typeface="Arial"/>
                <a:ea typeface="Arial"/>
                <a:cs typeface="Arial"/>
              </a:defRPr>
            </a:lvl8pPr>
            <a:lvl9pPr>
              <a:defRPr sz="675" b="1">
                <a:solidFill>
                  <a:srgbClr val="6E7568">
                    <a:alpha val="53333"/>
                  </a:srgbClr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675" b="1">
                <a:solidFill>
                  <a:srgbClr val="6E7568">
                    <a:alpha val="53333"/>
                  </a:srgbClr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E7568">
                    <a:alpha val="53333"/>
                  </a:srgbClr>
                </a:solidFill>
                <a:latin typeface="Arial"/>
                <a:ea typeface="Arial"/>
                <a:cs typeface="Arial"/>
              </a:rPr>
              <a:t>8.6 · LE COLLECTIF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2A59412-FC38-4223-8BBA-D6A4C98E2C2F}"/>
              </a:ext>
            </a:extLst>
          </p:cNvPr>
          <p:cNvSpPr>
            <a:spLocks noGrp="1"/>
          </p:cNvSpPr>
          <p:nvPr/>
        </p:nvSpPr>
        <p:spPr>
          <a:xfrm>
            <a:off x="11144250" y="6448425"/>
            <a:ext cx="4286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85278" lnSpcReduction="20000"/>
          </a:bodyPr>
          <a:lstStyle>
            <a:defPPr>
              <a:defRPr sz="675" b="1">
                <a:solidFill>
                  <a:srgbClr val="6E7568">
                    <a:alpha val="53333"/>
                  </a:srgbClr>
                </a:solidFill>
                <a:latin typeface="Arial"/>
                <a:ea typeface="Arial"/>
                <a:cs typeface="Arial"/>
              </a:defRPr>
            </a:defPPr>
            <a:lvl1pPr>
              <a:defRPr sz="675" b="1">
                <a:solidFill>
                  <a:srgbClr val="6E7568">
                    <a:alpha val="53333"/>
                  </a:srgbClr>
                </a:solidFill>
                <a:latin typeface="Arial"/>
                <a:ea typeface="Arial"/>
                <a:cs typeface="Arial"/>
              </a:defRPr>
            </a:lvl1pPr>
            <a:lvl2pPr>
              <a:defRPr sz="675" b="1">
                <a:solidFill>
                  <a:srgbClr val="6E7568">
                    <a:alpha val="53333"/>
                  </a:srgbClr>
                </a:solidFill>
                <a:latin typeface="Arial"/>
                <a:ea typeface="Arial"/>
                <a:cs typeface="Arial"/>
              </a:defRPr>
            </a:lvl2pPr>
            <a:lvl3pPr>
              <a:defRPr sz="675" b="1">
                <a:solidFill>
                  <a:srgbClr val="6E7568">
                    <a:alpha val="53333"/>
                  </a:srgbClr>
                </a:solidFill>
                <a:latin typeface="Arial"/>
                <a:ea typeface="Arial"/>
                <a:cs typeface="Arial"/>
              </a:defRPr>
            </a:lvl3pPr>
            <a:lvl4pPr>
              <a:defRPr sz="675" b="1">
                <a:solidFill>
                  <a:srgbClr val="6E7568">
                    <a:alpha val="53333"/>
                  </a:srgbClr>
                </a:solidFill>
                <a:latin typeface="Arial"/>
                <a:ea typeface="Arial"/>
                <a:cs typeface="Arial"/>
              </a:defRPr>
            </a:lvl4pPr>
            <a:lvl5pPr>
              <a:defRPr sz="675" b="1">
                <a:solidFill>
                  <a:srgbClr val="6E7568">
                    <a:alpha val="53333"/>
                  </a:srgbClr>
                </a:solidFill>
                <a:latin typeface="Arial"/>
                <a:ea typeface="Arial"/>
                <a:cs typeface="Arial"/>
              </a:defRPr>
            </a:lvl5pPr>
            <a:lvl6pPr>
              <a:defRPr sz="675" b="1">
                <a:solidFill>
                  <a:srgbClr val="6E7568">
                    <a:alpha val="53333"/>
                  </a:srgbClr>
                </a:solidFill>
                <a:latin typeface="Arial"/>
                <a:ea typeface="Arial"/>
                <a:cs typeface="Arial"/>
              </a:defRPr>
            </a:lvl6pPr>
            <a:lvl7pPr>
              <a:defRPr sz="675" b="1">
                <a:solidFill>
                  <a:srgbClr val="6E7568">
                    <a:alpha val="53333"/>
                  </a:srgbClr>
                </a:solidFill>
                <a:latin typeface="Arial"/>
                <a:ea typeface="Arial"/>
                <a:cs typeface="Arial"/>
              </a:defRPr>
            </a:lvl7pPr>
            <a:lvl8pPr>
              <a:defRPr sz="675" b="1">
                <a:solidFill>
                  <a:srgbClr val="6E7568">
                    <a:alpha val="53333"/>
                  </a:srgbClr>
                </a:solidFill>
                <a:latin typeface="Arial"/>
                <a:ea typeface="Arial"/>
                <a:cs typeface="Arial"/>
              </a:defRPr>
            </a:lvl8pPr>
            <a:lvl9pPr>
              <a:defRPr sz="675" b="1">
                <a:solidFill>
                  <a:srgbClr val="6E7568">
                    <a:alpha val="53333"/>
                  </a:srgbClr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675" b="1">
                <a:solidFill>
                  <a:srgbClr val="6E7568">
                    <a:alpha val="53333"/>
                  </a:srgbClr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E7568">
                    <a:alpha val="53333"/>
                  </a:srgbClr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8441380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AE24C1BA-89CA-4B8B-82CA-A679D851653A}"/>
              </a:ext>
            </a:extLst>
          </p:cNvPr>
          <p:cNvSpPr>
            <a:spLocks noGrp="1"/>
          </p:cNvSpPr>
          <p:nvPr/>
        </p:nvSpPr>
        <p:spPr>
          <a:xfrm>
            <a:off x="609600" y="428625"/>
            <a:ext cx="5143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>
            <a:defPPr>
              <a:defRPr sz="975" b="1">
                <a:solidFill>
                  <a:srgbClr val="ED6639"/>
                </a:solidFill>
                <a:latin typeface="Arial"/>
                <a:ea typeface="Arial"/>
                <a:cs typeface="Arial"/>
              </a:defRPr>
            </a:defPPr>
            <a:lvl1pPr>
              <a:defRPr sz="975" b="1">
                <a:solidFill>
                  <a:srgbClr val="ED6639"/>
                </a:solidFill>
                <a:latin typeface="Arial"/>
                <a:ea typeface="Arial"/>
                <a:cs typeface="Arial"/>
              </a:defRPr>
            </a:lvl1pPr>
            <a:lvl2pPr>
              <a:defRPr sz="975" b="1">
                <a:solidFill>
                  <a:srgbClr val="ED6639"/>
                </a:solidFill>
                <a:latin typeface="Arial"/>
                <a:ea typeface="Arial"/>
                <a:cs typeface="Arial"/>
              </a:defRPr>
            </a:lvl2pPr>
            <a:lvl3pPr>
              <a:defRPr sz="975" b="1">
                <a:solidFill>
                  <a:srgbClr val="ED6639"/>
                </a:solidFill>
                <a:latin typeface="Arial"/>
                <a:ea typeface="Arial"/>
                <a:cs typeface="Arial"/>
              </a:defRPr>
            </a:lvl3pPr>
            <a:lvl4pPr>
              <a:defRPr sz="975" b="1">
                <a:solidFill>
                  <a:srgbClr val="ED6639"/>
                </a:solidFill>
                <a:latin typeface="Arial"/>
                <a:ea typeface="Arial"/>
                <a:cs typeface="Arial"/>
              </a:defRPr>
            </a:lvl4pPr>
            <a:lvl5pPr>
              <a:defRPr sz="975" b="1">
                <a:solidFill>
                  <a:srgbClr val="ED6639"/>
                </a:solidFill>
                <a:latin typeface="Arial"/>
                <a:ea typeface="Arial"/>
                <a:cs typeface="Arial"/>
              </a:defRPr>
            </a:lvl5pPr>
            <a:lvl6pPr>
              <a:defRPr sz="975" b="1">
                <a:solidFill>
                  <a:srgbClr val="ED6639"/>
                </a:solidFill>
                <a:latin typeface="Arial"/>
                <a:ea typeface="Arial"/>
                <a:cs typeface="Arial"/>
              </a:defRPr>
            </a:lvl6pPr>
            <a:lvl7pPr>
              <a:defRPr sz="975" b="1">
                <a:solidFill>
                  <a:srgbClr val="ED6639"/>
                </a:solidFill>
                <a:latin typeface="Arial"/>
                <a:ea typeface="Arial"/>
                <a:cs typeface="Arial"/>
              </a:defRPr>
            </a:lvl7pPr>
            <a:lvl8pPr>
              <a:defRPr sz="975" b="1">
                <a:solidFill>
                  <a:srgbClr val="ED6639"/>
                </a:solidFill>
                <a:latin typeface="Arial"/>
                <a:ea typeface="Arial"/>
                <a:cs typeface="Arial"/>
              </a:defRPr>
            </a:lvl8pPr>
            <a:lvl9pPr>
              <a:defRPr sz="975" b="1">
                <a:solidFill>
                  <a:srgbClr val="ED6639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975" b="1">
                <a:solidFill>
                  <a:srgbClr val="ED663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ED6639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982E061-F72F-4F55-8898-4F9344B715C0}"/>
              </a:ext>
            </a:extLst>
          </p:cNvPr>
          <p:cNvSpPr>
            <a:spLocks noGrp="1"/>
          </p:cNvSpPr>
          <p:nvPr/>
        </p:nvSpPr>
        <p:spPr>
          <a:xfrm>
            <a:off x="1219200" y="352425"/>
            <a:ext cx="9525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>
            <a:defPPr>
              <a:defRPr sz="2400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400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1D19"/>
                </a:solidFill>
                <a:latin typeface="Arial"/>
                <a:ea typeface="Arial"/>
                <a:cs typeface="Arial"/>
              </a:rPr>
              <a:t>L’API Express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7D72C34-0D45-45CC-BBB6-41CECA579AF2}"/>
              </a:ext>
            </a:extLst>
          </p:cNvPr>
          <p:cNvSpPr>
            <a:spLocks noGrp="1"/>
          </p:cNvSpPr>
          <p:nvPr/>
        </p:nvSpPr>
        <p:spPr>
          <a:xfrm>
            <a:off x="590550" y="847725"/>
            <a:ext cx="10972800" cy="9525"/>
          </a:xfrm>
          <a:prstGeom prst="rect">
            <a:avLst/>
          </a:prstGeom>
          <a:solidFill>
            <a:srgbClr val="CDD0C7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537C3B3-4CE9-4BBD-9304-EE637C66C40E}"/>
              </a:ext>
            </a:extLst>
          </p:cNvPr>
          <p:cNvSpPr>
            <a:spLocks noGrp="1"/>
          </p:cNvSpPr>
          <p:nvPr/>
        </p:nvSpPr>
        <p:spPr>
          <a:xfrm>
            <a:off x="590550" y="1419225"/>
            <a:ext cx="7239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69561" lnSpcReduction="20000"/>
          </a:bodyPr>
          <a:lstStyle>
            <a:defPPr>
              <a:defRPr sz="2850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850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1D19"/>
                </a:solidFill>
                <a:latin typeface="Arial"/>
                <a:ea typeface="Arial"/>
                <a:cs typeface="Arial"/>
              </a:rPr>
              <a:t>Quatre routes pour gérer les références</a:t>
            </a:r>
            <a:r>
              <a:rPr lang="fr-FR" sz="2850" b="1">
                <a:solidFill>
                  <a:srgbClr val="171D19"/>
                </a:solidFill>
                <a:latin typeface="Arial"/>
                <a:ea typeface="Arial"/>
                <a:cs typeface="Arial"/>
              </a:rPr>
              <a:t> (opération CRUD)</a:t>
            </a:r>
            <a:endParaRPr sz="2850" b="1">
              <a:solidFill>
                <a:srgbClr val="171D1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059D2AB-9DE0-4B93-8ED7-F9D9A287850C}"/>
              </a:ext>
            </a:extLst>
          </p:cNvPr>
          <p:cNvSpPr>
            <a:spLocks noGrp="1"/>
          </p:cNvSpPr>
          <p:nvPr/>
        </p:nvSpPr>
        <p:spPr>
          <a:xfrm>
            <a:off x="609600" y="2809875"/>
            <a:ext cx="10953750" cy="9525"/>
          </a:xfrm>
          <a:prstGeom prst="rect">
            <a:avLst/>
          </a:prstGeom>
          <a:solidFill>
            <a:srgbClr val="D8D7D0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36BD7A9-CD20-4154-AFA5-02F9823820ED}"/>
              </a:ext>
            </a:extLst>
          </p:cNvPr>
          <p:cNvSpPr>
            <a:spLocks noGrp="1"/>
          </p:cNvSpPr>
          <p:nvPr/>
        </p:nvSpPr>
        <p:spPr>
          <a:xfrm>
            <a:off x="628650" y="2143125"/>
            <a:ext cx="1143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>
            <a:defPPr>
              <a:defRPr sz="1875" b="1">
                <a:solidFill>
                  <a:srgbClr val="66804D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66804D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66804D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66804D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66804D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66804D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66804D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66804D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66804D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66804D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75" b="1">
                <a:solidFill>
                  <a:srgbClr val="66804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66804D"/>
                </a:solidFill>
                <a:latin typeface="Arial"/>
                <a:ea typeface="Arial"/>
                <a:cs typeface="Arial"/>
              </a:rPr>
              <a:t>GET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67B6658-B039-444B-9E2D-325ABBF36897}"/>
              </a:ext>
            </a:extLst>
          </p:cNvPr>
          <p:cNvSpPr>
            <a:spLocks noGrp="1"/>
          </p:cNvSpPr>
          <p:nvPr/>
        </p:nvSpPr>
        <p:spPr>
          <a:xfrm>
            <a:off x="1952625" y="2143125"/>
            <a:ext cx="2857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>
            <a:defPPr>
              <a:defRPr sz="1650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650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1D19"/>
                </a:solidFill>
                <a:latin typeface="Arial"/>
                <a:ea typeface="Arial"/>
                <a:cs typeface="Arial"/>
              </a:rPr>
              <a:t>/bieres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F798DF1-DE89-4289-B50B-10F105D18879}"/>
              </a:ext>
            </a:extLst>
          </p:cNvPr>
          <p:cNvSpPr>
            <a:spLocks noGrp="1"/>
          </p:cNvSpPr>
          <p:nvPr/>
        </p:nvSpPr>
        <p:spPr>
          <a:xfrm>
            <a:off x="5031244" y="2176364"/>
            <a:ext cx="420941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>
            <a:defPPr>
              <a:defRPr sz="1500" b="0">
                <a:solidFill>
                  <a:srgbClr val="6E7568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6E7568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6E7568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6E7568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6E7568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6E7568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6E7568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6E7568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6E7568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6E756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500" b="0">
                <a:solidFill>
                  <a:srgbClr val="6E75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E7568"/>
                </a:solidFill>
                <a:latin typeface="Arial"/>
                <a:ea typeface="Arial"/>
                <a:cs typeface="Arial"/>
              </a:rPr>
              <a:t>Lire </a:t>
            </a:r>
            <a:r>
              <a:rPr lang="fr-FR" sz="1500" b="0">
                <a:solidFill>
                  <a:srgbClr val="6E7568"/>
                </a:solidFill>
                <a:latin typeface="Arial"/>
                <a:ea typeface="Arial"/>
                <a:cs typeface="Arial"/>
              </a:rPr>
              <a:t> et recuperer pour afficher </a:t>
            </a:r>
            <a:r>
              <a:rPr sz="1500" b="0">
                <a:solidFill>
                  <a:srgbClr val="6E7568"/>
                </a:solidFill>
                <a:latin typeface="Arial"/>
                <a:ea typeface="Arial"/>
                <a:cs typeface="Arial"/>
              </a:rPr>
              <a:t>le catalogue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3400E5A-19E5-4308-9B7E-7AA6FA508506}"/>
              </a:ext>
            </a:extLst>
          </p:cNvPr>
          <p:cNvSpPr>
            <a:spLocks noGrp="1"/>
          </p:cNvSpPr>
          <p:nvPr/>
        </p:nvSpPr>
        <p:spPr>
          <a:xfrm>
            <a:off x="10001250" y="2143125"/>
            <a:ext cx="14287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>
            <a:defPPr>
              <a:defRPr sz="1350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350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1D19"/>
                </a:solidFill>
                <a:latin typeface="Arial"/>
                <a:ea typeface="Arial"/>
                <a:cs typeface="Arial"/>
              </a:rPr>
              <a:t>200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E5690AD-C32A-4072-A48D-449F2A7AE07A}"/>
              </a:ext>
            </a:extLst>
          </p:cNvPr>
          <p:cNvSpPr>
            <a:spLocks noGrp="1"/>
          </p:cNvSpPr>
          <p:nvPr/>
        </p:nvSpPr>
        <p:spPr>
          <a:xfrm>
            <a:off x="609600" y="3648075"/>
            <a:ext cx="10953750" cy="9525"/>
          </a:xfrm>
          <a:prstGeom prst="rect">
            <a:avLst/>
          </a:prstGeom>
          <a:solidFill>
            <a:srgbClr val="D8D7D0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22E21A0-FF5C-497C-B1EB-3DF265BE842E}"/>
              </a:ext>
            </a:extLst>
          </p:cNvPr>
          <p:cNvSpPr>
            <a:spLocks noGrp="1"/>
          </p:cNvSpPr>
          <p:nvPr/>
        </p:nvSpPr>
        <p:spPr>
          <a:xfrm>
            <a:off x="628650" y="2981325"/>
            <a:ext cx="1143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>
            <a:defPPr>
              <a:defRPr sz="1875" b="1">
                <a:solidFill>
                  <a:srgbClr val="ED6639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ED6639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ED6639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ED6639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ED6639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ED6639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ED6639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ED6639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ED6639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ED6639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75" b="1">
                <a:solidFill>
                  <a:srgbClr val="ED663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ED6639"/>
                </a:solidFill>
                <a:latin typeface="Arial"/>
                <a:ea typeface="Arial"/>
                <a:cs typeface="Arial"/>
              </a:rPr>
              <a:t>POST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E9A768F-1EAB-4F8B-9E05-5C13F95D9F08}"/>
              </a:ext>
            </a:extLst>
          </p:cNvPr>
          <p:cNvSpPr>
            <a:spLocks noGrp="1"/>
          </p:cNvSpPr>
          <p:nvPr/>
        </p:nvSpPr>
        <p:spPr>
          <a:xfrm>
            <a:off x="1952625" y="2981325"/>
            <a:ext cx="2857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>
            <a:defPPr>
              <a:defRPr sz="1650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650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1D19"/>
                </a:solidFill>
                <a:latin typeface="Arial"/>
                <a:ea typeface="Arial"/>
                <a:cs typeface="Arial"/>
              </a:rPr>
              <a:t>/bieres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5A63550-F013-4A2D-85D5-E84BDBF2A903}"/>
              </a:ext>
            </a:extLst>
          </p:cNvPr>
          <p:cNvSpPr>
            <a:spLocks noGrp="1"/>
          </p:cNvSpPr>
          <p:nvPr/>
        </p:nvSpPr>
        <p:spPr>
          <a:xfrm>
            <a:off x="5095875" y="2981325"/>
            <a:ext cx="4000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>
            <a:defPPr>
              <a:defRPr sz="1500" b="0">
                <a:solidFill>
                  <a:srgbClr val="6E7568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6E7568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6E7568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6E7568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6E7568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6E7568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6E7568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6E7568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6E7568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6E756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500" b="0">
                <a:solidFill>
                  <a:srgbClr val="6E75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E7568"/>
                </a:solidFill>
                <a:latin typeface="Arial"/>
                <a:ea typeface="Arial"/>
                <a:cs typeface="Arial"/>
              </a:rPr>
              <a:t>Ajouter une référence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338DB5A-1DB9-4188-97B2-7D534254A3A4}"/>
              </a:ext>
            </a:extLst>
          </p:cNvPr>
          <p:cNvSpPr>
            <a:spLocks noGrp="1"/>
          </p:cNvSpPr>
          <p:nvPr/>
        </p:nvSpPr>
        <p:spPr>
          <a:xfrm>
            <a:off x="10001250" y="2981325"/>
            <a:ext cx="14287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>
            <a:defPPr>
              <a:defRPr sz="1350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350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1D19"/>
                </a:solidFill>
                <a:latin typeface="Arial"/>
                <a:ea typeface="Arial"/>
                <a:cs typeface="Arial"/>
              </a:rPr>
              <a:t>201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AAA44AB-E352-435A-9B1E-512BFC31D690}"/>
              </a:ext>
            </a:extLst>
          </p:cNvPr>
          <p:cNvSpPr>
            <a:spLocks noGrp="1"/>
          </p:cNvSpPr>
          <p:nvPr/>
        </p:nvSpPr>
        <p:spPr>
          <a:xfrm>
            <a:off x="609600" y="4486275"/>
            <a:ext cx="10953750" cy="9525"/>
          </a:xfrm>
          <a:prstGeom prst="rect">
            <a:avLst/>
          </a:prstGeom>
          <a:solidFill>
            <a:srgbClr val="D8D7D0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44B7EED-1139-48E5-A80A-7E70093209EE}"/>
              </a:ext>
            </a:extLst>
          </p:cNvPr>
          <p:cNvSpPr>
            <a:spLocks noGrp="1"/>
          </p:cNvSpPr>
          <p:nvPr/>
        </p:nvSpPr>
        <p:spPr>
          <a:xfrm>
            <a:off x="628650" y="3819525"/>
            <a:ext cx="1143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>
            <a:defPPr>
              <a:defRPr sz="1875" b="1">
                <a:solidFill>
                  <a:srgbClr val="ED6639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ED6639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ED6639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ED6639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ED6639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ED6639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ED6639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ED6639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ED6639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ED6639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75" b="1">
                <a:solidFill>
                  <a:srgbClr val="ED663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ED6639"/>
                </a:solidFill>
                <a:latin typeface="Arial"/>
                <a:ea typeface="Arial"/>
                <a:cs typeface="Arial"/>
              </a:rPr>
              <a:t>PUT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0E013AA-E9E5-48CA-8AB3-8CE03E33C1DD}"/>
              </a:ext>
            </a:extLst>
          </p:cNvPr>
          <p:cNvSpPr>
            <a:spLocks noGrp="1"/>
          </p:cNvSpPr>
          <p:nvPr/>
        </p:nvSpPr>
        <p:spPr>
          <a:xfrm>
            <a:off x="1952625" y="3819525"/>
            <a:ext cx="2857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>
            <a:defPPr>
              <a:defRPr sz="1650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650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1D19"/>
                </a:solidFill>
                <a:latin typeface="Arial"/>
                <a:ea typeface="Arial"/>
                <a:cs typeface="Arial"/>
              </a:rPr>
              <a:t>/bieres/:id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8F4137A-CF8B-42E0-8CDF-1C06F7359276}"/>
              </a:ext>
            </a:extLst>
          </p:cNvPr>
          <p:cNvSpPr>
            <a:spLocks noGrp="1"/>
          </p:cNvSpPr>
          <p:nvPr/>
        </p:nvSpPr>
        <p:spPr>
          <a:xfrm>
            <a:off x="5095875" y="3819525"/>
            <a:ext cx="4000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>
            <a:defPPr>
              <a:defRPr sz="1500" b="0">
                <a:solidFill>
                  <a:srgbClr val="6E7568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6E7568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6E7568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6E7568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6E7568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6E7568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6E7568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6E7568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6E7568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6E756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500" b="0">
                <a:solidFill>
                  <a:srgbClr val="6E75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E7568"/>
                </a:solidFill>
                <a:latin typeface="Arial"/>
                <a:ea typeface="Arial"/>
                <a:cs typeface="Arial"/>
              </a:rPr>
              <a:t>Modifier une référence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991D5E0-73FD-4661-9815-44820CCF848C}"/>
              </a:ext>
            </a:extLst>
          </p:cNvPr>
          <p:cNvSpPr>
            <a:spLocks noGrp="1"/>
          </p:cNvSpPr>
          <p:nvPr/>
        </p:nvSpPr>
        <p:spPr>
          <a:xfrm>
            <a:off x="10001250" y="3819525"/>
            <a:ext cx="14287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>
            <a:defPPr>
              <a:defRPr sz="1350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350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1D19"/>
                </a:solidFill>
                <a:latin typeface="Arial"/>
                <a:ea typeface="Arial"/>
                <a:cs typeface="Arial"/>
              </a:rPr>
              <a:t>200 / 404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56A4608-3860-44CC-831C-5D9033357699}"/>
              </a:ext>
            </a:extLst>
          </p:cNvPr>
          <p:cNvSpPr>
            <a:spLocks noGrp="1"/>
          </p:cNvSpPr>
          <p:nvPr/>
        </p:nvSpPr>
        <p:spPr>
          <a:xfrm>
            <a:off x="609600" y="5324475"/>
            <a:ext cx="10953750" cy="9525"/>
          </a:xfrm>
          <a:prstGeom prst="rect">
            <a:avLst/>
          </a:prstGeom>
          <a:solidFill>
            <a:srgbClr val="D8D7D0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D0A1D3E-4222-48ED-9578-E1DB220C3722}"/>
              </a:ext>
            </a:extLst>
          </p:cNvPr>
          <p:cNvSpPr>
            <a:spLocks noGrp="1"/>
          </p:cNvSpPr>
          <p:nvPr/>
        </p:nvSpPr>
        <p:spPr>
          <a:xfrm>
            <a:off x="628650" y="4657725"/>
            <a:ext cx="1143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>
            <a:defPPr>
              <a:defRPr sz="1875" b="1">
                <a:solidFill>
                  <a:srgbClr val="A34F3B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A34F3B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A34F3B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A34F3B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A34F3B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A34F3B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A34F3B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A34F3B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A34F3B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A34F3B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75" b="1">
                <a:solidFill>
                  <a:srgbClr val="A34F3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A34F3B"/>
                </a:solidFill>
                <a:latin typeface="Arial"/>
                <a:ea typeface="Arial"/>
                <a:cs typeface="Arial"/>
              </a:rPr>
              <a:t>DELETE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9C0518D-D0D6-4CEB-B80C-14FF75D0F993}"/>
              </a:ext>
            </a:extLst>
          </p:cNvPr>
          <p:cNvSpPr>
            <a:spLocks noGrp="1"/>
          </p:cNvSpPr>
          <p:nvPr/>
        </p:nvSpPr>
        <p:spPr>
          <a:xfrm>
            <a:off x="1952625" y="4657725"/>
            <a:ext cx="2857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>
            <a:defPPr>
              <a:defRPr sz="1650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650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1D19"/>
                </a:solidFill>
                <a:latin typeface="Arial"/>
                <a:ea typeface="Arial"/>
                <a:cs typeface="Arial"/>
              </a:rPr>
              <a:t>/bieres/:id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1F4772F-06F1-4748-8EBF-734E3BB45E93}"/>
              </a:ext>
            </a:extLst>
          </p:cNvPr>
          <p:cNvSpPr>
            <a:spLocks noGrp="1"/>
          </p:cNvSpPr>
          <p:nvPr/>
        </p:nvSpPr>
        <p:spPr>
          <a:xfrm>
            <a:off x="5095875" y="4657725"/>
            <a:ext cx="4000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>
            <a:defPPr>
              <a:defRPr sz="1500" b="0">
                <a:solidFill>
                  <a:srgbClr val="6E7568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6E7568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6E7568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6E7568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6E7568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6E7568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6E7568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6E7568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6E7568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6E756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500" b="0">
                <a:solidFill>
                  <a:srgbClr val="6E75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E7568"/>
                </a:solidFill>
                <a:latin typeface="Arial"/>
                <a:ea typeface="Arial"/>
                <a:cs typeface="Arial"/>
              </a:rPr>
              <a:t>Supprimer une référence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09828F9-D5B0-480B-B8B2-B8A2619E0E40}"/>
              </a:ext>
            </a:extLst>
          </p:cNvPr>
          <p:cNvSpPr>
            <a:spLocks noGrp="1"/>
          </p:cNvSpPr>
          <p:nvPr/>
        </p:nvSpPr>
        <p:spPr>
          <a:xfrm>
            <a:off x="10001250" y="4657725"/>
            <a:ext cx="14287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>
            <a:defPPr>
              <a:defRPr sz="1350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350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1D19"/>
                </a:solidFill>
                <a:latin typeface="Arial"/>
                <a:ea typeface="Arial"/>
                <a:cs typeface="Arial"/>
              </a:rPr>
              <a:t>204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9C0AEFE-D14D-46DD-BD14-1F216A14804A}"/>
              </a:ext>
            </a:extLst>
          </p:cNvPr>
          <p:cNvSpPr>
            <a:spLocks noGrp="1"/>
          </p:cNvSpPr>
          <p:nvPr/>
        </p:nvSpPr>
        <p:spPr>
          <a:xfrm>
            <a:off x="609600" y="5734050"/>
            <a:ext cx="2857500" cy="2667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sz="1125" b="1">
                <a:solidFill>
                  <a:srgbClr val="ED6639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ED6639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ED6639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ED6639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ED6639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ED6639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ED6639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ED6639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ED6639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ED6639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t>Validation avant Supabase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1733FE9-B5B3-4D0E-A656-F6F6928ED25E}"/>
              </a:ext>
            </a:extLst>
          </p:cNvPr>
          <p:cNvSpPr>
            <a:spLocks noGrp="1"/>
          </p:cNvSpPr>
          <p:nvPr/>
        </p:nvSpPr>
        <p:spPr>
          <a:xfrm>
            <a:off x="609600" y="6448425"/>
            <a:ext cx="2476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85278" lnSpcReduction="20000"/>
          </a:bodyPr>
          <a:lstStyle>
            <a:defPPr>
              <a:defRPr sz="675" b="1">
                <a:solidFill>
                  <a:srgbClr val="6E7568">
                    <a:alpha val="53333"/>
                  </a:srgbClr>
                </a:solidFill>
                <a:latin typeface="Arial"/>
                <a:ea typeface="Arial"/>
                <a:cs typeface="Arial"/>
              </a:defRPr>
            </a:defPPr>
            <a:lvl1pPr>
              <a:defRPr sz="675" b="1">
                <a:solidFill>
                  <a:srgbClr val="6E7568">
                    <a:alpha val="53333"/>
                  </a:srgbClr>
                </a:solidFill>
                <a:latin typeface="Arial"/>
                <a:ea typeface="Arial"/>
                <a:cs typeface="Arial"/>
              </a:defRPr>
            </a:lvl1pPr>
            <a:lvl2pPr>
              <a:defRPr sz="675" b="1">
                <a:solidFill>
                  <a:srgbClr val="6E7568">
                    <a:alpha val="53333"/>
                  </a:srgbClr>
                </a:solidFill>
                <a:latin typeface="Arial"/>
                <a:ea typeface="Arial"/>
                <a:cs typeface="Arial"/>
              </a:defRPr>
            </a:lvl2pPr>
            <a:lvl3pPr>
              <a:defRPr sz="675" b="1">
                <a:solidFill>
                  <a:srgbClr val="6E7568">
                    <a:alpha val="53333"/>
                  </a:srgbClr>
                </a:solidFill>
                <a:latin typeface="Arial"/>
                <a:ea typeface="Arial"/>
                <a:cs typeface="Arial"/>
              </a:defRPr>
            </a:lvl3pPr>
            <a:lvl4pPr>
              <a:defRPr sz="675" b="1">
                <a:solidFill>
                  <a:srgbClr val="6E7568">
                    <a:alpha val="53333"/>
                  </a:srgbClr>
                </a:solidFill>
                <a:latin typeface="Arial"/>
                <a:ea typeface="Arial"/>
                <a:cs typeface="Arial"/>
              </a:defRPr>
            </a:lvl4pPr>
            <a:lvl5pPr>
              <a:defRPr sz="675" b="1">
                <a:solidFill>
                  <a:srgbClr val="6E7568">
                    <a:alpha val="53333"/>
                  </a:srgbClr>
                </a:solidFill>
                <a:latin typeface="Arial"/>
                <a:ea typeface="Arial"/>
                <a:cs typeface="Arial"/>
              </a:defRPr>
            </a:lvl5pPr>
            <a:lvl6pPr>
              <a:defRPr sz="675" b="1">
                <a:solidFill>
                  <a:srgbClr val="6E7568">
                    <a:alpha val="53333"/>
                  </a:srgbClr>
                </a:solidFill>
                <a:latin typeface="Arial"/>
                <a:ea typeface="Arial"/>
                <a:cs typeface="Arial"/>
              </a:defRPr>
            </a:lvl6pPr>
            <a:lvl7pPr>
              <a:defRPr sz="675" b="1">
                <a:solidFill>
                  <a:srgbClr val="6E7568">
                    <a:alpha val="53333"/>
                  </a:srgbClr>
                </a:solidFill>
                <a:latin typeface="Arial"/>
                <a:ea typeface="Arial"/>
                <a:cs typeface="Arial"/>
              </a:defRPr>
            </a:lvl7pPr>
            <a:lvl8pPr>
              <a:defRPr sz="675" b="1">
                <a:solidFill>
                  <a:srgbClr val="6E7568">
                    <a:alpha val="53333"/>
                  </a:srgbClr>
                </a:solidFill>
                <a:latin typeface="Arial"/>
                <a:ea typeface="Arial"/>
                <a:cs typeface="Arial"/>
              </a:defRPr>
            </a:lvl8pPr>
            <a:lvl9pPr>
              <a:defRPr sz="675" b="1">
                <a:solidFill>
                  <a:srgbClr val="6E7568">
                    <a:alpha val="53333"/>
                  </a:srgbClr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675" b="1">
                <a:solidFill>
                  <a:srgbClr val="6E7568">
                    <a:alpha val="53333"/>
                  </a:srgbClr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E7568">
                    <a:alpha val="53333"/>
                  </a:srgbClr>
                </a:solidFill>
                <a:latin typeface="Arial"/>
                <a:ea typeface="Arial"/>
                <a:cs typeface="Arial"/>
              </a:rPr>
              <a:t>8.6 · LE COLLECTIF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886DDED-5D12-402E-A1AB-376390C95F04}"/>
              </a:ext>
            </a:extLst>
          </p:cNvPr>
          <p:cNvSpPr>
            <a:spLocks noGrp="1"/>
          </p:cNvSpPr>
          <p:nvPr/>
        </p:nvSpPr>
        <p:spPr>
          <a:xfrm>
            <a:off x="11144250" y="6448425"/>
            <a:ext cx="4286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85278" lnSpcReduction="20000"/>
          </a:bodyPr>
          <a:lstStyle>
            <a:defPPr>
              <a:defRPr sz="675" b="1">
                <a:solidFill>
                  <a:srgbClr val="6E7568">
                    <a:alpha val="53333"/>
                  </a:srgbClr>
                </a:solidFill>
                <a:latin typeface="Arial"/>
                <a:ea typeface="Arial"/>
                <a:cs typeface="Arial"/>
              </a:defRPr>
            </a:defPPr>
            <a:lvl1pPr>
              <a:defRPr sz="675" b="1">
                <a:solidFill>
                  <a:srgbClr val="6E7568">
                    <a:alpha val="53333"/>
                  </a:srgbClr>
                </a:solidFill>
                <a:latin typeface="Arial"/>
                <a:ea typeface="Arial"/>
                <a:cs typeface="Arial"/>
              </a:defRPr>
            </a:lvl1pPr>
            <a:lvl2pPr>
              <a:defRPr sz="675" b="1">
                <a:solidFill>
                  <a:srgbClr val="6E7568">
                    <a:alpha val="53333"/>
                  </a:srgbClr>
                </a:solidFill>
                <a:latin typeface="Arial"/>
                <a:ea typeface="Arial"/>
                <a:cs typeface="Arial"/>
              </a:defRPr>
            </a:lvl2pPr>
            <a:lvl3pPr>
              <a:defRPr sz="675" b="1">
                <a:solidFill>
                  <a:srgbClr val="6E7568">
                    <a:alpha val="53333"/>
                  </a:srgbClr>
                </a:solidFill>
                <a:latin typeface="Arial"/>
                <a:ea typeface="Arial"/>
                <a:cs typeface="Arial"/>
              </a:defRPr>
            </a:lvl3pPr>
            <a:lvl4pPr>
              <a:defRPr sz="675" b="1">
                <a:solidFill>
                  <a:srgbClr val="6E7568">
                    <a:alpha val="53333"/>
                  </a:srgbClr>
                </a:solidFill>
                <a:latin typeface="Arial"/>
                <a:ea typeface="Arial"/>
                <a:cs typeface="Arial"/>
              </a:defRPr>
            </a:lvl4pPr>
            <a:lvl5pPr>
              <a:defRPr sz="675" b="1">
                <a:solidFill>
                  <a:srgbClr val="6E7568">
                    <a:alpha val="53333"/>
                  </a:srgbClr>
                </a:solidFill>
                <a:latin typeface="Arial"/>
                <a:ea typeface="Arial"/>
                <a:cs typeface="Arial"/>
              </a:defRPr>
            </a:lvl5pPr>
            <a:lvl6pPr>
              <a:defRPr sz="675" b="1">
                <a:solidFill>
                  <a:srgbClr val="6E7568">
                    <a:alpha val="53333"/>
                  </a:srgbClr>
                </a:solidFill>
                <a:latin typeface="Arial"/>
                <a:ea typeface="Arial"/>
                <a:cs typeface="Arial"/>
              </a:defRPr>
            </a:lvl6pPr>
            <a:lvl7pPr>
              <a:defRPr sz="675" b="1">
                <a:solidFill>
                  <a:srgbClr val="6E7568">
                    <a:alpha val="53333"/>
                  </a:srgbClr>
                </a:solidFill>
                <a:latin typeface="Arial"/>
                <a:ea typeface="Arial"/>
                <a:cs typeface="Arial"/>
              </a:defRPr>
            </a:lvl7pPr>
            <a:lvl8pPr>
              <a:defRPr sz="675" b="1">
                <a:solidFill>
                  <a:srgbClr val="6E7568">
                    <a:alpha val="53333"/>
                  </a:srgbClr>
                </a:solidFill>
                <a:latin typeface="Arial"/>
                <a:ea typeface="Arial"/>
                <a:cs typeface="Arial"/>
              </a:defRPr>
            </a:lvl8pPr>
            <a:lvl9pPr>
              <a:defRPr sz="675" b="1">
                <a:solidFill>
                  <a:srgbClr val="6E7568">
                    <a:alpha val="53333"/>
                  </a:srgbClr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675" b="1">
                <a:solidFill>
                  <a:srgbClr val="6E7568">
                    <a:alpha val="53333"/>
                  </a:srgbClr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E7568">
                    <a:alpha val="53333"/>
                  </a:srgbClr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809A8315-9E97-4BA9-BD9D-1CB4F54D992D}"/>
              </a:ext>
            </a:extLst>
          </p:cNvPr>
          <p:cNvSpPr txBox="1"/>
          <p:nvPr/>
        </p:nvSpPr>
        <p:spPr>
          <a:xfrm>
            <a:off x="628650" y="892055"/>
            <a:ext cx="751917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/>
              <a:t>L’ API sert d’intermédiaire entre le site React et la base de données Supabase</a:t>
            </a:r>
          </a:p>
          <a:p>
            <a:endParaRPr lang="fr-FR"/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8F8D3499-17CE-4783-8135-F406F95AE767}"/>
              </a:ext>
            </a:extLst>
          </p:cNvPr>
          <p:cNvSpPr txBox="1"/>
          <p:nvPr/>
        </p:nvSpPr>
        <p:spPr>
          <a:xfrm>
            <a:off x="590550" y="5999507"/>
            <a:ext cx="4488729" cy="2654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125" b="1">
                <a:solidFill>
                  <a:srgbClr val="ED6639"/>
                </a:solidFill>
                <a:latin typeface="Arial"/>
                <a:cs typeface="Arial"/>
              </a:rPr>
              <a:t>Vérifie les données côté serveur avant de les envoyer à la BDD</a:t>
            </a:r>
          </a:p>
        </p:txBody>
      </p:sp>
    </p:spTree>
    <p:extLst>
      <p:ext uri="{BB962C8B-B14F-4D97-AF65-F5344CB8AC3E}">
        <p14:creationId xmlns:p14="http://schemas.microsoft.com/office/powerpoint/2010/main" val="15604320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0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B9A7EFF1-31C3-4169-AC73-D27D49670C4C}"/>
              </a:ext>
            </a:extLst>
          </p:cNvPr>
          <p:cNvSpPr>
            <a:spLocks noGrp="1"/>
          </p:cNvSpPr>
          <p:nvPr/>
        </p:nvSpPr>
        <p:spPr>
          <a:xfrm>
            <a:off x="609600" y="428625"/>
            <a:ext cx="5143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>
            <a:defPPr>
              <a:defRPr sz="975" b="1">
                <a:solidFill>
                  <a:srgbClr val="9BC7D8"/>
                </a:solidFill>
                <a:latin typeface="Arial"/>
                <a:ea typeface="Arial"/>
                <a:cs typeface="Arial"/>
              </a:defRPr>
            </a:defPPr>
            <a:lvl1pPr>
              <a:defRPr sz="975" b="1">
                <a:solidFill>
                  <a:srgbClr val="9BC7D8"/>
                </a:solidFill>
                <a:latin typeface="Arial"/>
                <a:ea typeface="Arial"/>
                <a:cs typeface="Arial"/>
              </a:defRPr>
            </a:lvl1pPr>
            <a:lvl2pPr>
              <a:defRPr sz="975" b="1">
                <a:solidFill>
                  <a:srgbClr val="9BC7D8"/>
                </a:solidFill>
                <a:latin typeface="Arial"/>
                <a:ea typeface="Arial"/>
                <a:cs typeface="Arial"/>
              </a:defRPr>
            </a:lvl2pPr>
            <a:lvl3pPr>
              <a:defRPr sz="975" b="1">
                <a:solidFill>
                  <a:srgbClr val="9BC7D8"/>
                </a:solidFill>
                <a:latin typeface="Arial"/>
                <a:ea typeface="Arial"/>
                <a:cs typeface="Arial"/>
              </a:defRPr>
            </a:lvl3pPr>
            <a:lvl4pPr>
              <a:defRPr sz="975" b="1">
                <a:solidFill>
                  <a:srgbClr val="9BC7D8"/>
                </a:solidFill>
                <a:latin typeface="Arial"/>
                <a:ea typeface="Arial"/>
                <a:cs typeface="Arial"/>
              </a:defRPr>
            </a:lvl4pPr>
            <a:lvl5pPr>
              <a:defRPr sz="975" b="1">
                <a:solidFill>
                  <a:srgbClr val="9BC7D8"/>
                </a:solidFill>
                <a:latin typeface="Arial"/>
                <a:ea typeface="Arial"/>
                <a:cs typeface="Arial"/>
              </a:defRPr>
            </a:lvl5pPr>
            <a:lvl6pPr>
              <a:defRPr sz="975" b="1">
                <a:solidFill>
                  <a:srgbClr val="9BC7D8"/>
                </a:solidFill>
                <a:latin typeface="Arial"/>
                <a:ea typeface="Arial"/>
                <a:cs typeface="Arial"/>
              </a:defRPr>
            </a:lvl6pPr>
            <a:lvl7pPr>
              <a:defRPr sz="975" b="1">
                <a:solidFill>
                  <a:srgbClr val="9BC7D8"/>
                </a:solidFill>
                <a:latin typeface="Arial"/>
                <a:ea typeface="Arial"/>
                <a:cs typeface="Arial"/>
              </a:defRPr>
            </a:lvl7pPr>
            <a:lvl8pPr>
              <a:defRPr sz="975" b="1">
                <a:solidFill>
                  <a:srgbClr val="9BC7D8"/>
                </a:solidFill>
                <a:latin typeface="Arial"/>
                <a:ea typeface="Arial"/>
                <a:cs typeface="Arial"/>
              </a:defRPr>
            </a:lvl8pPr>
            <a:lvl9pPr>
              <a:defRPr sz="975" b="1">
                <a:solidFill>
                  <a:srgbClr val="9BC7D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975" b="1">
                <a:solidFill>
                  <a:srgbClr val="9BC7D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BC7D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23AE50A-9864-4982-930B-6358B18DD8D4}"/>
              </a:ext>
            </a:extLst>
          </p:cNvPr>
          <p:cNvSpPr>
            <a:spLocks noGrp="1"/>
          </p:cNvSpPr>
          <p:nvPr/>
        </p:nvSpPr>
        <p:spPr>
          <a:xfrm>
            <a:off x="1219200" y="352425"/>
            <a:ext cx="9525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>
            <a:defPPr>
              <a:defRPr sz="2400" b="1">
                <a:solidFill>
                  <a:srgbClr val="F5F2E9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F5F2E9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F5F2E9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F5F2E9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F5F2E9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F5F2E9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F5F2E9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F5F2E9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F5F2E9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F5F2E9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400" b="1">
                <a:solidFill>
                  <a:srgbClr val="F5F2E9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5F2E9"/>
                </a:solidFill>
                <a:latin typeface="Arial"/>
                <a:ea typeface="Arial"/>
                <a:cs typeface="Arial"/>
              </a:rPr>
              <a:t>Le frontend React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C1B83DF-3351-42C2-8B08-A37D1AB1E2AB}"/>
              </a:ext>
            </a:extLst>
          </p:cNvPr>
          <p:cNvSpPr>
            <a:spLocks noGrp="1"/>
          </p:cNvSpPr>
          <p:nvPr/>
        </p:nvSpPr>
        <p:spPr>
          <a:xfrm>
            <a:off x="609600" y="990600"/>
            <a:ext cx="10972800" cy="9525"/>
          </a:xfrm>
          <a:prstGeom prst="rect">
            <a:avLst/>
          </a:prstGeom>
          <a:solidFill>
            <a:srgbClr val="FFFFFF">
              <a:alpha val="16471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99A482E-C6EB-4898-B6A9-74F4808DD767}"/>
              </a:ext>
            </a:extLst>
          </p:cNvPr>
          <p:cNvSpPr>
            <a:spLocks noGrp="1"/>
          </p:cNvSpPr>
          <p:nvPr/>
        </p:nvSpPr>
        <p:spPr>
          <a:xfrm>
            <a:off x="609600" y="1238250"/>
            <a:ext cx="6477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74763" lnSpcReduction="20000"/>
          </a:bodyPr>
          <a:lstStyle>
            <a:defPPr>
              <a:defRPr sz="2550" b="1">
                <a:solidFill>
                  <a:srgbClr val="F5F2E9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F5F2E9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F5F2E9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F5F2E9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F5F2E9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F5F2E9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F5F2E9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F5F2E9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F5F2E9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F5F2E9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550" b="1">
                <a:solidFill>
                  <a:srgbClr val="F5F2E9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2E9"/>
                </a:solidFill>
                <a:latin typeface="Arial"/>
                <a:ea typeface="Arial"/>
                <a:cs typeface="Arial"/>
              </a:rPr>
              <a:t>Le catalogue affiche les données reçues par fetch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D6B535-9374-4974-B86C-D9896866D31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906" r="1550" b="1655"/>
          <a:stretch>
            <a:fillRect/>
          </a:stretch>
        </p:blipFill>
        <p:spPr>
          <a:xfrm>
            <a:off x="609600" y="2333617"/>
            <a:ext cx="6892413" cy="3524257"/>
          </a:xfrm>
          <a:prstGeom prst="roundRect">
            <a:avLst>
              <a:gd name="adj" fmla="val 4000"/>
            </a:avLst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B5AB89E-73CA-4D61-B296-3BE5D7F83D93}"/>
              </a:ext>
            </a:extLst>
          </p:cNvPr>
          <p:cNvSpPr>
            <a:spLocks noGrp="1"/>
          </p:cNvSpPr>
          <p:nvPr/>
        </p:nvSpPr>
        <p:spPr>
          <a:xfrm>
            <a:off x="8143875" y="2095500"/>
            <a:ext cx="285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>
            <a:defPPr>
              <a:defRPr sz="1875" b="1">
                <a:solidFill>
                  <a:srgbClr val="9BC7D8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9BC7D8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9BC7D8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9BC7D8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9BC7D8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9BC7D8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9BC7D8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9BC7D8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9BC7D8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9BC7D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75" b="1">
                <a:solidFill>
                  <a:srgbClr val="9BC7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9BC7D8"/>
                </a:solidFill>
                <a:latin typeface="Arial"/>
                <a:ea typeface="Arial"/>
                <a:cs typeface="Arial"/>
              </a:rPr>
              <a:t>App.jsx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AC87439-431F-49C3-8D80-740B338B25A6}"/>
              </a:ext>
            </a:extLst>
          </p:cNvPr>
          <p:cNvSpPr>
            <a:spLocks noGrp="1"/>
          </p:cNvSpPr>
          <p:nvPr/>
        </p:nvSpPr>
        <p:spPr>
          <a:xfrm>
            <a:off x="8143875" y="2524125"/>
            <a:ext cx="31432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>
            <a:defPPr>
              <a:defRPr sz="1350" b="0">
                <a:solidFill>
                  <a:srgbClr val="F5F2E9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F5F2E9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F5F2E9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F5F2E9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F5F2E9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F5F2E9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F5F2E9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F5F2E9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F5F2E9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F5F2E9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350" b="0">
                <a:solidFill>
                  <a:srgbClr val="F5F2E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5F2E9"/>
                </a:solidFill>
                <a:latin typeface="Arial"/>
                <a:ea typeface="Arial"/>
                <a:cs typeface="Arial"/>
              </a:rPr>
              <a:t>GET /bieres au chargement</a:t>
            </a:r>
          </a:p>
          <a:p>
            <a:pPr>
              <a:defRPr sz="1350" b="0">
                <a:solidFill>
                  <a:srgbClr val="F5F2E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5F2E9"/>
                </a:solidFill>
                <a:latin typeface="Arial"/>
                <a:ea typeface="Arial"/>
                <a:cs typeface="Arial"/>
              </a:rPr>
              <a:t>État partagé de la collection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0A1EA7B-B5B5-4182-8927-943BA2046337}"/>
              </a:ext>
            </a:extLst>
          </p:cNvPr>
          <p:cNvSpPr>
            <a:spLocks noGrp="1"/>
          </p:cNvSpPr>
          <p:nvPr/>
        </p:nvSpPr>
        <p:spPr>
          <a:xfrm>
            <a:off x="8143875" y="3524250"/>
            <a:ext cx="3143250" cy="9525"/>
          </a:xfrm>
          <a:prstGeom prst="rect">
            <a:avLst/>
          </a:prstGeom>
          <a:solidFill>
            <a:srgbClr val="FFFFFF">
              <a:alpha val="16471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08F3B20-11DC-4B4B-A5AA-A307755F3343}"/>
              </a:ext>
            </a:extLst>
          </p:cNvPr>
          <p:cNvSpPr>
            <a:spLocks noGrp="1"/>
          </p:cNvSpPr>
          <p:nvPr/>
        </p:nvSpPr>
        <p:spPr>
          <a:xfrm>
            <a:off x="8143875" y="3733800"/>
            <a:ext cx="285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>
            <a:defPPr>
              <a:defRPr sz="1875" b="1">
                <a:solidFill>
                  <a:srgbClr val="B8C69F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B8C69F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B8C69F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B8C69F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B8C69F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B8C69F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B8C69F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B8C69F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B8C69F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B8C69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75" b="1">
                <a:solidFill>
                  <a:srgbClr val="B8C69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B8C69F"/>
                </a:solidFill>
                <a:latin typeface="Arial"/>
                <a:ea typeface="Arial"/>
                <a:cs typeface="Arial"/>
              </a:rPr>
              <a:t>Catalogue.jsx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868554C-74A1-4EC7-90D1-D7206703A39E}"/>
              </a:ext>
            </a:extLst>
          </p:cNvPr>
          <p:cNvSpPr>
            <a:spLocks noGrp="1"/>
          </p:cNvSpPr>
          <p:nvPr/>
        </p:nvSpPr>
        <p:spPr>
          <a:xfrm>
            <a:off x="8143875" y="4162425"/>
            <a:ext cx="31432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>
            <a:defPPr>
              <a:defRPr sz="1350" b="0">
                <a:solidFill>
                  <a:srgbClr val="F5F2E9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F5F2E9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F5F2E9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F5F2E9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F5F2E9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F5F2E9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F5F2E9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F5F2E9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F5F2E9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F5F2E9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350" b="0">
                <a:solidFill>
                  <a:srgbClr val="F5F2E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5F2E9"/>
                </a:solidFill>
                <a:latin typeface="Arial"/>
                <a:ea typeface="Arial"/>
                <a:cs typeface="Arial"/>
              </a:rPr>
              <a:t>map pour les cartes</a:t>
            </a:r>
          </a:p>
          <a:p>
            <a:pPr>
              <a:defRPr sz="1350" b="0">
                <a:solidFill>
                  <a:srgbClr val="F5F2E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5F2E9"/>
                </a:solidFill>
                <a:latin typeface="Arial"/>
                <a:ea typeface="Arial"/>
                <a:cs typeface="Arial"/>
              </a:rPr>
              <a:t>filter et useMemo pour la recherche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25F009A-87A2-4886-B741-AB147060990E}"/>
              </a:ext>
            </a:extLst>
          </p:cNvPr>
          <p:cNvSpPr>
            <a:spLocks noGrp="1"/>
          </p:cNvSpPr>
          <p:nvPr/>
        </p:nvSpPr>
        <p:spPr>
          <a:xfrm>
            <a:off x="8143875" y="5162550"/>
            <a:ext cx="3143250" cy="9525"/>
          </a:xfrm>
          <a:prstGeom prst="rect">
            <a:avLst/>
          </a:prstGeom>
          <a:solidFill>
            <a:srgbClr val="FFFFFF">
              <a:alpha val="16471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5EF7C38-B8E9-4646-B4B9-189FB906843C}"/>
              </a:ext>
            </a:extLst>
          </p:cNvPr>
          <p:cNvSpPr>
            <a:spLocks noGrp="1"/>
          </p:cNvSpPr>
          <p:nvPr/>
        </p:nvSpPr>
        <p:spPr>
          <a:xfrm>
            <a:off x="8143875" y="5353050"/>
            <a:ext cx="285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>
            <a:defPPr>
              <a:defRPr sz="1875" b="1">
                <a:solidFill>
                  <a:srgbClr val="E3B38D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E3B38D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E3B38D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E3B38D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E3B38D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E3B38D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E3B38D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E3B38D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E3B38D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E3B38D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75" b="1">
                <a:solidFill>
                  <a:srgbClr val="E3B38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E3B38D"/>
                </a:solidFill>
                <a:latin typeface="Arial"/>
                <a:ea typeface="Arial"/>
                <a:cs typeface="Arial"/>
              </a:rPr>
              <a:t>api.js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2ACD84D-064E-4066-8F9A-8739F7FFC448}"/>
              </a:ext>
            </a:extLst>
          </p:cNvPr>
          <p:cNvSpPr>
            <a:spLocks noGrp="1"/>
          </p:cNvSpPr>
          <p:nvPr/>
        </p:nvSpPr>
        <p:spPr>
          <a:xfrm>
            <a:off x="8143875" y="5781675"/>
            <a:ext cx="3143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>
            <a:defPPr>
              <a:defRPr sz="1350" b="0">
                <a:solidFill>
                  <a:srgbClr val="F5F2E9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F5F2E9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F5F2E9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F5F2E9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F5F2E9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F5F2E9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F5F2E9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F5F2E9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F5F2E9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F5F2E9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350" b="0">
                <a:solidFill>
                  <a:srgbClr val="F5F2E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5F2E9"/>
                </a:solidFill>
                <a:latin typeface="Arial"/>
                <a:ea typeface="Arial"/>
                <a:cs typeface="Arial"/>
              </a:rPr>
              <a:t>Centralise tous les appels vers Vercel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AD4C305-A144-498E-BBD8-97F896048952}"/>
              </a:ext>
            </a:extLst>
          </p:cNvPr>
          <p:cNvSpPr>
            <a:spLocks noGrp="1"/>
          </p:cNvSpPr>
          <p:nvPr/>
        </p:nvSpPr>
        <p:spPr>
          <a:xfrm>
            <a:off x="609600" y="6448425"/>
            <a:ext cx="2476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85278" lnSpcReduction="20000"/>
          </a:bodyPr>
          <a:lstStyle>
            <a:defPPr>
              <a:defRPr sz="675" b="1">
                <a:solidFill>
                  <a:srgbClr val="FFFFFF">
                    <a:alpha val="47059"/>
                  </a:srgbClr>
                </a:solidFill>
                <a:latin typeface="Arial"/>
                <a:ea typeface="Arial"/>
                <a:cs typeface="Arial"/>
              </a:defRPr>
            </a:defPPr>
            <a:lvl1pPr>
              <a:defRPr sz="675" b="1">
                <a:solidFill>
                  <a:srgbClr val="FFFFFF">
                    <a:alpha val="47059"/>
                  </a:srgbClr>
                </a:solidFill>
                <a:latin typeface="Arial"/>
                <a:ea typeface="Arial"/>
                <a:cs typeface="Arial"/>
              </a:defRPr>
            </a:lvl1pPr>
            <a:lvl2pPr>
              <a:defRPr sz="675" b="1">
                <a:solidFill>
                  <a:srgbClr val="FFFFFF">
                    <a:alpha val="47059"/>
                  </a:srgbClr>
                </a:solidFill>
                <a:latin typeface="Arial"/>
                <a:ea typeface="Arial"/>
                <a:cs typeface="Arial"/>
              </a:defRPr>
            </a:lvl2pPr>
            <a:lvl3pPr>
              <a:defRPr sz="675" b="1">
                <a:solidFill>
                  <a:srgbClr val="FFFFFF">
                    <a:alpha val="47059"/>
                  </a:srgbClr>
                </a:solidFill>
                <a:latin typeface="Arial"/>
                <a:ea typeface="Arial"/>
                <a:cs typeface="Arial"/>
              </a:defRPr>
            </a:lvl3pPr>
            <a:lvl4pPr>
              <a:defRPr sz="675" b="1">
                <a:solidFill>
                  <a:srgbClr val="FFFFFF">
                    <a:alpha val="47059"/>
                  </a:srgbClr>
                </a:solidFill>
                <a:latin typeface="Arial"/>
                <a:ea typeface="Arial"/>
                <a:cs typeface="Arial"/>
              </a:defRPr>
            </a:lvl4pPr>
            <a:lvl5pPr>
              <a:defRPr sz="675" b="1">
                <a:solidFill>
                  <a:srgbClr val="FFFFFF">
                    <a:alpha val="47059"/>
                  </a:srgbClr>
                </a:solidFill>
                <a:latin typeface="Arial"/>
                <a:ea typeface="Arial"/>
                <a:cs typeface="Arial"/>
              </a:defRPr>
            </a:lvl5pPr>
            <a:lvl6pPr>
              <a:defRPr sz="675" b="1">
                <a:solidFill>
                  <a:srgbClr val="FFFFFF">
                    <a:alpha val="47059"/>
                  </a:srgbClr>
                </a:solidFill>
                <a:latin typeface="Arial"/>
                <a:ea typeface="Arial"/>
                <a:cs typeface="Arial"/>
              </a:defRPr>
            </a:lvl6pPr>
            <a:lvl7pPr>
              <a:defRPr sz="675" b="1">
                <a:solidFill>
                  <a:srgbClr val="FFFFFF">
                    <a:alpha val="47059"/>
                  </a:srgbClr>
                </a:solidFill>
                <a:latin typeface="Arial"/>
                <a:ea typeface="Arial"/>
                <a:cs typeface="Arial"/>
              </a:defRPr>
            </a:lvl7pPr>
            <a:lvl8pPr>
              <a:defRPr sz="675" b="1">
                <a:solidFill>
                  <a:srgbClr val="FFFFFF">
                    <a:alpha val="47059"/>
                  </a:srgbClr>
                </a:solidFill>
                <a:latin typeface="Arial"/>
                <a:ea typeface="Arial"/>
                <a:cs typeface="Arial"/>
              </a:defRPr>
            </a:lvl8pPr>
            <a:lvl9pPr>
              <a:defRPr sz="675" b="1">
                <a:solidFill>
                  <a:srgbClr val="FFFFFF">
                    <a:alpha val="47059"/>
                  </a:srgbClr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675" b="1">
                <a:solidFill>
                  <a:srgbClr val="FFFFFF">
                    <a:alpha val="47059"/>
                  </a:srgbClr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FFFFFF">
                    <a:alpha val="47059"/>
                  </a:srgbClr>
                </a:solidFill>
                <a:latin typeface="Arial"/>
                <a:ea typeface="Arial"/>
                <a:cs typeface="Arial"/>
              </a:rPr>
              <a:t>8.6 · LE COLLECTIF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E45A700-5AEA-400F-B2A5-183E8BD553FE}"/>
              </a:ext>
            </a:extLst>
          </p:cNvPr>
          <p:cNvSpPr>
            <a:spLocks noGrp="1"/>
          </p:cNvSpPr>
          <p:nvPr/>
        </p:nvSpPr>
        <p:spPr>
          <a:xfrm>
            <a:off x="11144250" y="6448425"/>
            <a:ext cx="4286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85278" lnSpcReduction="20000"/>
          </a:bodyPr>
          <a:lstStyle>
            <a:defPPr>
              <a:defRPr sz="675" b="1">
                <a:solidFill>
                  <a:srgbClr val="FFFFFF">
                    <a:alpha val="47059"/>
                  </a:srgbClr>
                </a:solidFill>
                <a:latin typeface="Arial"/>
                <a:ea typeface="Arial"/>
                <a:cs typeface="Arial"/>
              </a:defRPr>
            </a:defPPr>
            <a:lvl1pPr>
              <a:defRPr sz="675" b="1">
                <a:solidFill>
                  <a:srgbClr val="FFFFFF">
                    <a:alpha val="47059"/>
                  </a:srgbClr>
                </a:solidFill>
                <a:latin typeface="Arial"/>
                <a:ea typeface="Arial"/>
                <a:cs typeface="Arial"/>
              </a:defRPr>
            </a:lvl1pPr>
            <a:lvl2pPr>
              <a:defRPr sz="675" b="1">
                <a:solidFill>
                  <a:srgbClr val="FFFFFF">
                    <a:alpha val="47059"/>
                  </a:srgbClr>
                </a:solidFill>
                <a:latin typeface="Arial"/>
                <a:ea typeface="Arial"/>
                <a:cs typeface="Arial"/>
              </a:defRPr>
            </a:lvl2pPr>
            <a:lvl3pPr>
              <a:defRPr sz="675" b="1">
                <a:solidFill>
                  <a:srgbClr val="FFFFFF">
                    <a:alpha val="47059"/>
                  </a:srgbClr>
                </a:solidFill>
                <a:latin typeface="Arial"/>
                <a:ea typeface="Arial"/>
                <a:cs typeface="Arial"/>
              </a:defRPr>
            </a:lvl3pPr>
            <a:lvl4pPr>
              <a:defRPr sz="675" b="1">
                <a:solidFill>
                  <a:srgbClr val="FFFFFF">
                    <a:alpha val="47059"/>
                  </a:srgbClr>
                </a:solidFill>
                <a:latin typeface="Arial"/>
                <a:ea typeface="Arial"/>
                <a:cs typeface="Arial"/>
              </a:defRPr>
            </a:lvl4pPr>
            <a:lvl5pPr>
              <a:defRPr sz="675" b="1">
                <a:solidFill>
                  <a:srgbClr val="FFFFFF">
                    <a:alpha val="47059"/>
                  </a:srgbClr>
                </a:solidFill>
                <a:latin typeface="Arial"/>
                <a:ea typeface="Arial"/>
                <a:cs typeface="Arial"/>
              </a:defRPr>
            </a:lvl5pPr>
            <a:lvl6pPr>
              <a:defRPr sz="675" b="1">
                <a:solidFill>
                  <a:srgbClr val="FFFFFF">
                    <a:alpha val="47059"/>
                  </a:srgbClr>
                </a:solidFill>
                <a:latin typeface="Arial"/>
                <a:ea typeface="Arial"/>
                <a:cs typeface="Arial"/>
              </a:defRPr>
            </a:lvl6pPr>
            <a:lvl7pPr>
              <a:defRPr sz="675" b="1">
                <a:solidFill>
                  <a:srgbClr val="FFFFFF">
                    <a:alpha val="47059"/>
                  </a:srgbClr>
                </a:solidFill>
                <a:latin typeface="Arial"/>
                <a:ea typeface="Arial"/>
                <a:cs typeface="Arial"/>
              </a:defRPr>
            </a:lvl7pPr>
            <a:lvl8pPr>
              <a:defRPr sz="675" b="1">
                <a:solidFill>
                  <a:srgbClr val="FFFFFF">
                    <a:alpha val="47059"/>
                  </a:srgbClr>
                </a:solidFill>
                <a:latin typeface="Arial"/>
                <a:ea typeface="Arial"/>
                <a:cs typeface="Arial"/>
              </a:defRPr>
            </a:lvl8pPr>
            <a:lvl9pPr>
              <a:defRPr sz="675" b="1">
                <a:solidFill>
                  <a:srgbClr val="FFFFFF">
                    <a:alpha val="47059"/>
                  </a:srgbClr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675" b="1">
                <a:solidFill>
                  <a:srgbClr val="FFFFFF">
                    <a:alpha val="47059"/>
                  </a:srgbClr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FFFFFF">
                    <a:alpha val="47059"/>
                  </a:srgbClr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2952156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9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3398F717-71C1-4043-AB9A-80B7975D047D}"/>
              </a:ext>
            </a:extLst>
          </p:cNvPr>
          <p:cNvSpPr>
            <a:spLocks noGrp="1"/>
          </p:cNvSpPr>
          <p:nvPr/>
        </p:nvSpPr>
        <p:spPr>
          <a:xfrm>
            <a:off x="609600" y="428625"/>
            <a:ext cx="5143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>
            <a:defPPr>
              <a:defRPr sz="975" b="1">
                <a:solidFill>
                  <a:srgbClr val="ED6639"/>
                </a:solidFill>
                <a:latin typeface="Arial"/>
                <a:ea typeface="Arial"/>
                <a:cs typeface="Arial"/>
              </a:defRPr>
            </a:defPPr>
            <a:lvl1pPr>
              <a:defRPr sz="975" b="1">
                <a:solidFill>
                  <a:srgbClr val="ED6639"/>
                </a:solidFill>
                <a:latin typeface="Arial"/>
                <a:ea typeface="Arial"/>
                <a:cs typeface="Arial"/>
              </a:defRPr>
            </a:lvl1pPr>
            <a:lvl2pPr>
              <a:defRPr sz="975" b="1">
                <a:solidFill>
                  <a:srgbClr val="ED6639"/>
                </a:solidFill>
                <a:latin typeface="Arial"/>
                <a:ea typeface="Arial"/>
                <a:cs typeface="Arial"/>
              </a:defRPr>
            </a:lvl2pPr>
            <a:lvl3pPr>
              <a:defRPr sz="975" b="1">
                <a:solidFill>
                  <a:srgbClr val="ED6639"/>
                </a:solidFill>
                <a:latin typeface="Arial"/>
                <a:ea typeface="Arial"/>
                <a:cs typeface="Arial"/>
              </a:defRPr>
            </a:lvl3pPr>
            <a:lvl4pPr>
              <a:defRPr sz="975" b="1">
                <a:solidFill>
                  <a:srgbClr val="ED6639"/>
                </a:solidFill>
                <a:latin typeface="Arial"/>
                <a:ea typeface="Arial"/>
                <a:cs typeface="Arial"/>
              </a:defRPr>
            </a:lvl4pPr>
            <a:lvl5pPr>
              <a:defRPr sz="975" b="1">
                <a:solidFill>
                  <a:srgbClr val="ED6639"/>
                </a:solidFill>
                <a:latin typeface="Arial"/>
                <a:ea typeface="Arial"/>
                <a:cs typeface="Arial"/>
              </a:defRPr>
            </a:lvl5pPr>
            <a:lvl6pPr>
              <a:defRPr sz="975" b="1">
                <a:solidFill>
                  <a:srgbClr val="ED6639"/>
                </a:solidFill>
                <a:latin typeface="Arial"/>
                <a:ea typeface="Arial"/>
                <a:cs typeface="Arial"/>
              </a:defRPr>
            </a:lvl6pPr>
            <a:lvl7pPr>
              <a:defRPr sz="975" b="1">
                <a:solidFill>
                  <a:srgbClr val="ED6639"/>
                </a:solidFill>
                <a:latin typeface="Arial"/>
                <a:ea typeface="Arial"/>
                <a:cs typeface="Arial"/>
              </a:defRPr>
            </a:lvl7pPr>
            <a:lvl8pPr>
              <a:defRPr sz="975" b="1">
                <a:solidFill>
                  <a:srgbClr val="ED6639"/>
                </a:solidFill>
                <a:latin typeface="Arial"/>
                <a:ea typeface="Arial"/>
                <a:cs typeface="Arial"/>
              </a:defRPr>
            </a:lvl8pPr>
            <a:lvl9pPr>
              <a:defRPr sz="975" b="1">
                <a:solidFill>
                  <a:srgbClr val="ED6639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975" b="1">
                <a:solidFill>
                  <a:srgbClr val="ED663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ED6639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3ACE627-7967-4C46-993A-76A05A694B24}"/>
              </a:ext>
            </a:extLst>
          </p:cNvPr>
          <p:cNvSpPr>
            <a:spLocks noGrp="1"/>
          </p:cNvSpPr>
          <p:nvPr/>
        </p:nvSpPr>
        <p:spPr>
          <a:xfrm>
            <a:off x="1219200" y="352425"/>
            <a:ext cx="9525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>
            <a:defPPr>
              <a:defRPr sz="2400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400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1D19"/>
                </a:solidFill>
                <a:latin typeface="Arial"/>
                <a:ea typeface="Arial"/>
                <a:cs typeface="Arial"/>
              </a:rPr>
              <a:t>L’espace gérant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52949EB-8A1D-409C-B6A8-61659101416B}"/>
              </a:ext>
            </a:extLst>
          </p:cNvPr>
          <p:cNvSpPr>
            <a:spLocks noGrp="1"/>
          </p:cNvSpPr>
          <p:nvPr/>
        </p:nvSpPr>
        <p:spPr>
          <a:xfrm>
            <a:off x="609600" y="990600"/>
            <a:ext cx="10972800" cy="9525"/>
          </a:xfrm>
          <a:prstGeom prst="rect">
            <a:avLst/>
          </a:prstGeom>
          <a:solidFill>
            <a:srgbClr val="CDD0C7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28BA35E-1FB7-4EF6-8892-C6FAEFDE4988}"/>
              </a:ext>
            </a:extLst>
          </p:cNvPr>
          <p:cNvSpPr>
            <a:spLocks noGrp="1"/>
          </p:cNvSpPr>
          <p:nvPr/>
        </p:nvSpPr>
        <p:spPr>
          <a:xfrm>
            <a:off x="609600" y="1219200"/>
            <a:ext cx="7334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83643" lnSpcReduction="10000"/>
          </a:bodyPr>
          <a:lstStyle>
            <a:defPPr>
              <a:defRPr sz="2700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defPPr>
            <a:lvl1pPr>
              <a:defRPr sz="2700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lvl1pPr>
            <a:lvl2pPr>
              <a:defRPr sz="2700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lvl2pPr>
            <a:lvl3pPr>
              <a:defRPr sz="2700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lvl3pPr>
            <a:lvl4pPr>
              <a:defRPr sz="2700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lvl4pPr>
            <a:lvl5pPr>
              <a:defRPr sz="2700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lvl5pPr>
            <a:lvl6pPr>
              <a:defRPr sz="2700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lvl6pPr>
            <a:lvl7pPr>
              <a:defRPr sz="2700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lvl7pPr>
            <a:lvl8pPr>
              <a:defRPr sz="2700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lvl8pPr>
            <a:lvl9pPr>
              <a:defRPr sz="2700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700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1D19"/>
                </a:solidFill>
                <a:latin typeface="Arial"/>
                <a:ea typeface="Arial"/>
                <a:cs typeface="Arial"/>
              </a:rPr>
              <a:t>Le formulaire pilote les quatre opérations CRUD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E1137C-BF1C-4E38-A9E0-BA7733DA417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896" r="1348" b="3896"/>
          <a:stretch>
            <a:fillRect/>
          </a:stretch>
        </p:blipFill>
        <p:spPr>
          <a:xfrm>
            <a:off x="619125" y="2143125"/>
            <a:ext cx="7423355" cy="3905250"/>
          </a:xfrm>
          <a:prstGeom prst="roundRect">
            <a:avLst>
              <a:gd name="adj" fmla="val 3902"/>
            </a:avLst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B5699E6-AD24-4787-AC1E-B9AA9E7EC0AD}"/>
              </a:ext>
            </a:extLst>
          </p:cNvPr>
          <p:cNvSpPr>
            <a:spLocks noGrp="1"/>
          </p:cNvSpPr>
          <p:nvPr/>
        </p:nvSpPr>
        <p:spPr>
          <a:xfrm>
            <a:off x="8667750" y="2095500"/>
            <a:ext cx="20002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92857" lnSpcReduction="10000"/>
          </a:bodyPr>
          <a:lstStyle>
            <a:defPPr>
              <a:defRPr sz="1575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575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1D19"/>
                </a:solidFill>
                <a:latin typeface="Arial"/>
                <a:ea typeface="Arial"/>
                <a:cs typeface="Arial"/>
              </a:rPr>
              <a:t>Ajouter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BE8FC7E-0658-45AA-AE2A-47509727F595}"/>
              </a:ext>
            </a:extLst>
          </p:cNvPr>
          <p:cNvSpPr>
            <a:spLocks noGrp="1"/>
          </p:cNvSpPr>
          <p:nvPr/>
        </p:nvSpPr>
        <p:spPr>
          <a:xfrm>
            <a:off x="10668000" y="2095500"/>
            <a:ext cx="904875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>
            <a:defPPr>
              <a:defRPr sz="1125" b="1">
                <a:solidFill>
                  <a:srgbClr val="ED6639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ED6639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ED6639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ED6639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ED6639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ED6639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ED6639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ED6639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ED6639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ED6639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125" b="1">
                <a:solidFill>
                  <a:srgbClr val="ED663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D6639"/>
                </a:solidFill>
                <a:latin typeface="Arial"/>
                <a:ea typeface="Arial"/>
                <a:cs typeface="Arial"/>
              </a:rPr>
              <a:t>POST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E0D3346-B94C-4E1F-836D-9C23981BDE0C}"/>
              </a:ext>
            </a:extLst>
          </p:cNvPr>
          <p:cNvSpPr>
            <a:spLocks noGrp="1"/>
          </p:cNvSpPr>
          <p:nvPr/>
        </p:nvSpPr>
        <p:spPr>
          <a:xfrm>
            <a:off x="8667750" y="2552700"/>
            <a:ext cx="2905125" cy="9525"/>
          </a:xfrm>
          <a:prstGeom prst="rect">
            <a:avLst/>
          </a:prstGeom>
          <a:solidFill>
            <a:srgbClr val="CDCEC7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D9E762F-BCDE-41F4-B34F-49999671A0C4}"/>
              </a:ext>
            </a:extLst>
          </p:cNvPr>
          <p:cNvSpPr>
            <a:spLocks noGrp="1"/>
          </p:cNvSpPr>
          <p:nvPr/>
        </p:nvSpPr>
        <p:spPr>
          <a:xfrm>
            <a:off x="8667750" y="2971800"/>
            <a:ext cx="20002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92857" lnSpcReduction="10000"/>
          </a:bodyPr>
          <a:lstStyle>
            <a:defPPr>
              <a:defRPr sz="1575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575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1D19"/>
                </a:solidFill>
                <a:latin typeface="Arial"/>
                <a:ea typeface="Arial"/>
                <a:cs typeface="Arial"/>
              </a:rPr>
              <a:t>Modifier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7F60B8D-9145-486C-A8E2-8062CBC6ACEE}"/>
              </a:ext>
            </a:extLst>
          </p:cNvPr>
          <p:cNvSpPr>
            <a:spLocks noGrp="1"/>
          </p:cNvSpPr>
          <p:nvPr/>
        </p:nvSpPr>
        <p:spPr>
          <a:xfrm>
            <a:off x="10668000" y="2971800"/>
            <a:ext cx="904875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>
            <a:defPPr>
              <a:defRPr sz="1125" b="1">
                <a:solidFill>
                  <a:srgbClr val="ED6639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ED6639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ED6639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ED6639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ED6639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ED6639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ED6639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ED6639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ED6639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ED6639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125" b="1">
                <a:solidFill>
                  <a:srgbClr val="ED663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D6639"/>
                </a:solidFill>
                <a:latin typeface="Arial"/>
                <a:ea typeface="Arial"/>
                <a:cs typeface="Arial"/>
              </a:rPr>
              <a:t>PUT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56F4539-D81A-4FA5-9B1D-AB7FE36C9E7F}"/>
              </a:ext>
            </a:extLst>
          </p:cNvPr>
          <p:cNvSpPr>
            <a:spLocks noGrp="1"/>
          </p:cNvSpPr>
          <p:nvPr/>
        </p:nvSpPr>
        <p:spPr>
          <a:xfrm>
            <a:off x="8667750" y="3429000"/>
            <a:ext cx="2905125" cy="9525"/>
          </a:xfrm>
          <a:prstGeom prst="rect">
            <a:avLst/>
          </a:prstGeom>
          <a:solidFill>
            <a:srgbClr val="CDCEC7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27E1439-B980-4BB0-BF63-B5F5CA33D532}"/>
              </a:ext>
            </a:extLst>
          </p:cNvPr>
          <p:cNvSpPr>
            <a:spLocks noGrp="1"/>
          </p:cNvSpPr>
          <p:nvPr/>
        </p:nvSpPr>
        <p:spPr>
          <a:xfrm>
            <a:off x="8667750" y="3848100"/>
            <a:ext cx="20002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92857" lnSpcReduction="10000"/>
          </a:bodyPr>
          <a:lstStyle>
            <a:defPPr>
              <a:defRPr sz="1575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575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1D19"/>
                </a:solidFill>
                <a:latin typeface="Arial"/>
                <a:ea typeface="Arial"/>
                <a:cs typeface="Arial"/>
              </a:rPr>
              <a:t>Disponibilité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33237C2-F5FE-4EEC-B690-11BA02918365}"/>
              </a:ext>
            </a:extLst>
          </p:cNvPr>
          <p:cNvSpPr>
            <a:spLocks noGrp="1"/>
          </p:cNvSpPr>
          <p:nvPr/>
        </p:nvSpPr>
        <p:spPr>
          <a:xfrm>
            <a:off x="10668000" y="3848100"/>
            <a:ext cx="904875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>
            <a:defPPr>
              <a:defRPr sz="1125" b="1">
                <a:solidFill>
                  <a:srgbClr val="ED6639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ED6639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ED6639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ED6639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ED6639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ED6639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ED6639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ED6639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ED6639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ED6639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125" b="1">
                <a:solidFill>
                  <a:srgbClr val="ED663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D6639"/>
                </a:solidFill>
                <a:latin typeface="Arial"/>
                <a:ea typeface="Arial"/>
                <a:cs typeface="Arial"/>
              </a:rPr>
              <a:t>PUT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222CD0-7DA6-4986-9ACE-43921FD10E36}"/>
              </a:ext>
            </a:extLst>
          </p:cNvPr>
          <p:cNvSpPr>
            <a:spLocks noGrp="1"/>
          </p:cNvSpPr>
          <p:nvPr/>
        </p:nvSpPr>
        <p:spPr>
          <a:xfrm>
            <a:off x="8667750" y="4305300"/>
            <a:ext cx="2905125" cy="9525"/>
          </a:xfrm>
          <a:prstGeom prst="rect">
            <a:avLst/>
          </a:prstGeom>
          <a:solidFill>
            <a:srgbClr val="CDCEC7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825E6AE-B11C-4075-9325-CB705D7C2294}"/>
              </a:ext>
            </a:extLst>
          </p:cNvPr>
          <p:cNvSpPr>
            <a:spLocks noGrp="1"/>
          </p:cNvSpPr>
          <p:nvPr/>
        </p:nvSpPr>
        <p:spPr>
          <a:xfrm>
            <a:off x="8667750" y="4724400"/>
            <a:ext cx="20002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92857" lnSpcReduction="10000"/>
          </a:bodyPr>
          <a:lstStyle>
            <a:defPPr>
              <a:defRPr sz="1575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575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1D19"/>
                </a:solidFill>
                <a:latin typeface="Arial"/>
                <a:ea typeface="Arial"/>
                <a:cs typeface="Arial"/>
              </a:rPr>
              <a:t>Supprimer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FAC984D-B009-437E-ACB7-69F25056B0C9}"/>
              </a:ext>
            </a:extLst>
          </p:cNvPr>
          <p:cNvSpPr>
            <a:spLocks noGrp="1"/>
          </p:cNvSpPr>
          <p:nvPr/>
        </p:nvSpPr>
        <p:spPr>
          <a:xfrm>
            <a:off x="10668000" y="4724400"/>
            <a:ext cx="904875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>
            <a:defPPr>
              <a:defRPr sz="1125" b="1">
                <a:solidFill>
                  <a:srgbClr val="A34F3B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A34F3B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A34F3B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A34F3B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A34F3B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A34F3B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A34F3B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A34F3B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A34F3B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A34F3B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125" b="1">
                <a:solidFill>
                  <a:srgbClr val="A34F3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A34F3B"/>
                </a:solidFill>
                <a:latin typeface="Arial"/>
                <a:ea typeface="Arial"/>
                <a:cs typeface="Arial"/>
              </a:rPr>
              <a:t>DELETE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BE0391A-5DB0-4457-8448-5266183C7744}"/>
              </a:ext>
            </a:extLst>
          </p:cNvPr>
          <p:cNvSpPr>
            <a:spLocks noGrp="1"/>
          </p:cNvSpPr>
          <p:nvPr/>
        </p:nvSpPr>
        <p:spPr>
          <a:xfrm>
            <a:off x="8667750" y="5181600"/>
            <a:ext cx="2905125" cy="9525"/>
          </a:xfrm>
          <a:prstGeom prst="rect">
            <a:avLst/>
          </a:prstGeom>
          <a:solidFill>
            <a:srgbClr val="CDCEC7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0C3852E-D1E0-45AF-A2CC-8B44024FD536}"/>
              </a:ext>
            </a:extLst>
          </p:cNvPr>
          <p:cNvSpPr>
            <a:spLocks noGrp="1"/>
          </p:cNvSpPr>
          <p:nvPr/>
        </p:nvSpPr>
        <p:spPr>
          <a:xfrm>
            <a:off x="8667750" y="5619750"/>
            <a:ext cx="2905125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>
            <a:defPPr>
              <a:defRPr sz="1125" b="0">
                <a:solidFill>
                  <a:srgbClr val="6E7568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6E7568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6E7568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6E7568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6E7568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6E7568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6E7568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6E7568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6E7568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6E756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125" b="0">
                <a:solidFill>
                  <a:srgbClr val="6E756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E7568"/>
                </a:solidFill>
                <a:latin typeface="Arial"/>
                <a:ea typeface="Arial"/>
                <a:cs typeface="Arial"/>
              </a:rPr>
              <a:t>useState contrôle chaque champ du formulaire. Après la réponse de l’API, setItems met immédiatement la liste à jour.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99B7454-3845-413A-8A2A-3416733FC675}"/>
              </a:ext>
            </a:extLst>
          </p:cNvPr>
          <p:cNvSpPr>
            <a:spLocks noGrp="1"/>
          </p:cNvSpPr>
          <p:nvPr/>
        </p:nvSpPr>
        <p:spPr>
          <a:xfrm>
            <a:off x="609600" y="6448425"/>
            <a:ext cx="2476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85278" lnSpcReduction="20000"/>
          </a:bodyPr>
          <a:lstStyle>
            <a:defPPr>
              <a:defRPr sz="675" b="1">
                <a:solidFill>
                  <a:srgbClr val="6E7568">
                    <a:alpha val="53333"/>
                  </a:srgbClr>
                </a:solidFill>
                <a:latin typeface="Arial"/>
                <a:ea typeface="Arial"/>
                <a:cs typeface="Arial"/>
              </a:defRPr>
            </a:defPPr>
            <a:lvl1pPr>
              <a:defRPr sz="675" b="1">
                <a:solidFill>
                  <a:srgbClr val="6E7568">
                    <a:alpha val="53333"/>
                  </a:srgbClr>
                </a:solidFill>
                <a:latin typeface="Arial"/>
                <a:ea typeface="Arial"/>
                <a:cs typeface="Arial"/>
              </a:defRPr>
            </a:lvl1pPr>
            <a:lvl2pPr>
              <a:defRPr sz="675" b="1">
                <a:solidFill>
                  <a:srgbClr val="6E7568">
                    <a:alpha val="53333"/>
                  </a:srgbClr>
                </a:solidFill>
                <a:latin typeface="Arial"/>
                <a:ea typeface="Arial"/>
                <a:cs typeface="Arial"/>
              </a:defRPr>
            </a:lvl2pPr>
            <a:lvl3pPr>
              <a:defRPr sz="675" b="1">
                <a:solidFill>
                  <a:srgbClr val="6E7568">
                    <a:alpha val="53333"/>
                  </a:srgbClr>
                </a:solidFill>
                <a:latin typeface="Arial"/>
                <a:ea typeface="Arial"/>
                <a:cs typeface="Arial"/>
              </a:defRPr>
            </a:lvl3pPr>
            <a:lvl4pPr>
              <a:defRPr sz="675" b="1">
                <a:solidFill>
                  <a:srgbClr val="6E7568">
                    <a:alpha val="53333"/>
                  </a:srgbClr>
                </a:solidFill>
                <a:latin typeface="Arial"/>
                <a:ea typeface="Arial"/>
                <a:cs typeface="Arial"/>
              </a:defRPr>
            </a:lvl4pPr>
            <a:lvl5pPr>
              <a:defRPr sz="675" b="1">
                <a:solidFill>
                  <a:srgbClr val="6E7568">
                    <a:alpha val="53333"/>
                  </a:srgbClr>
                </a:solidFill>
                <a:latin typeface="Arial"/>
                <a:ea typeface="Arial"/>
                <a:cs typeface="Arial"/>
              </a:defRPr>
            </a:lvl5pPr>
            <a:lvl6pPr>
              <a:defRPr sz="675" b="1">
                <a:solidFill>
                  <a:srgbClr val="6E7568">
                    <a:alpha val="53333"/>
                  </a:srgbClr>
                </a:solidFill>
                <a:latin typeface="Arial"/>
                <a:ea typeface="Arial"/>
                <a:cs typeface="Arial"/>
              </a:defRPr>
            </a:lvl6pPr>
            <a:lvl7pPr>
              <a:defRPr sz="675" b="1">
                <a:solidFill>
                  <a:srgbClr val="6E7568">
                    <a:alpha val="53333"/>
                  </a:srgbClr>
                </a:solidFill>
                <a:latin typeface="Arial"/>
                <a:ea typeface="Arial"/>
                <a:cs typeface="Arial"/>
              </a:defRPr>
            </a:lvl7pPr>
            <a:lvl8pPr>
              <a:defRPr sz="675" b="1">
                <a:solidFill>
                  <a:srgbClr val="6E7568">
                    <a:alpha val="53333"/>
                  </a:srgbClr>
                </a:solidFill>
                <a:latin typeface="Arial"/>
                <a:ea typeface="Arial"/>
                <a:cs typeface="Arial"/>
              </a:defRPr>
            </a:lvl8pPr>
            <a:lvl9pPr>
              <a:defRPr sz="675" b="1">
                <a:solidFill>
                  <a:srgbClr val="6E7568">
                    <a:alpha val="53333"/>
                  </a:srgbClr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675" b="1">
                <a:solidFill>
                  <a:srgbClr val="6E7568">
                    <a:alpha val="53333"/>
                  </a:srgbClr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E7568">
                    <a:alpha val="53333"/>
                  </a:srgbClr>
                </a:solidFill>
                <a:latin typeface="Arial"/>
                <a:ea typeface="Arial"/>
                <a:cs typeface="Arial"/>
              </a:rPr>
              <a:t>8.6 · LE COLLECTIF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9127E14-7DA3-4D89-BF7B-EA6AB648C1F2}"/>
              </a:ext>
            </a:extLst>
          </p:cNvPr>
          <p:cNvSpPr>
            <a:spLocks noGrp="1"/>
          </p:cNvSpPr>
          <p:nvPr/>
        </p:nvSpPr>
        <p:spPr>
          <a:xfrm>
            <a:off x="11144250" y="6448425"/>
            <a:ext cx="4286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85278" lnSpcReduction="20000"/>
          </a:bodyPr>
          <a:lstStyle>
            <a:defPPr>
              <a:defRPr sz="675" b="1">
                <a:solidFill>
                  <a:srgbClr val="6E7568">
                    <a:alpha val="53333"/>
                  </a:srgbClr>
                </a:solidFill>
                <a:latin typeface="Arial"/>
                <a:ea typeface="Arial"/>
                <a:cs typeface="Arial"/>
              </a:defRPr>
            </a:defPPr>
            <a:lvl1pPr>
              <a:defRPr sz="675" b="1">
                <a:solidFill>
                  <a:srgbClr val="6E7568">
                    <a:alpha val="53333"/>
                  </a:srgbClr>
                </a:solidFill>
                <a:latin typeface="Arial"/>
                <a:ea typeface="Arial"/>
                <a:cs typeface="Arial"/>
              </a:defRPr>
            </a:lvl1pPr>
            <a:lvl2pPr>
              <a:defRPr sz="675" b="1">
                <a:solidFill>
                  <a:srgbClr val="6E7568">
                    <a:alpha val="53333"/>
                  </a:srgbClr>
                </a:solidFill>
                <a:latin typeface="Arial"/>
                <a:ea typeface="Arial"/>
                <a:cs typeface="Arial"/>
              </a:defRPr>
            </a:lvl2pPr>
            <a:lvl3pPr>
              <a:defRPr sz="675" b="1">
                <a:solidFill>
                  <a:srgbClr val="6E7568">
                    <a:alpha val="53333"/>
                  </a:srgbClr>
                </a:solidFill>
                <a:latin typeface="Arial"/>
                <a:ea typeface="Arial"/>
                <a:cs typeface="Arial"/>
              </a:defRPr>
            </a:lvl3pPr>
            <a:lvl4pPr>
              <a:defRPr sz="675" b="1">
                <a:solidFill>
                  <a:srgbClr val="6E7568">
                    <a:alpha val="53333"/>
                  </a:srgbClr>
                </a:solidFill>
                <a:latin typeface="Arial"/>
                <a:ea typeface="Arial"/>
                <a:cs typeface="Arial"/>
              </a:defRPr>
            </a:lvl4pPr>
            <a:lvl5pPr>
              <a:defRPr sz="675" b="1">
                <a:solidFill>
                  <a:srgbClr val="6E7568">
                    <a:alpha val="53333"/>
                  </a:srgbClr>
                </a:solidFill>
                <a:latin typeface="Arial"/>
                <a:ea typeface="Arial"/>
                <a:cs typeface="Arial"/>
              </a:defRPr>
            </a:lvl5pPr>
            <a:lvl6pPr>
              <a:defRPr sz="675" b="1">
                <a:solidFill>
                  <a:srgbClr val="6E7568">
                    <a:alpha val="53333"/>
                  </a:srgbClr>
                </a:solidFill>
                <a:latin typeface="Arial"/>
                <a:ea typeface="Arial"/>
                <a:cs typeface="Arial"/>
              </a:defRPr>
            </a:lvl6pPr>
            <a:lvl7pPr>
              <a:defRPr sz="675" b="1">
                <a:solidFill>
                  <a:srgbClr val="6E7568">
                    <a:alpha val="53333"/>
                  </a:srgbClr>
                </a:solidFill>
                <a:latin typeface="Arial"/>
                <a:ea typeface="Arial"/>
                <a:cs typeface="Arial"/>
              </a:defRPr>
            </a:lvl7pPr>
            <a:lvl8pPr>
              <a:defRPr sz="675" b="1">
                <a:solidFill>
                  <a:srgbClr val="6E7568">
                    <a:alpha val="53333"/>
                  </a:srgbClr>
                </a:solidFill>
                <a:latin typeface="Arial"/>
                <a:ea typeface="Arial"/>
                <a:cs typeface="Arial"/>
              </a:defRPr>
            </a:lvl8pPr>
            <a:lvl9pPr>
              <a:defRPr sz="675" b="1">
                <a:solidFill>
                  <a:srgbClr val="6E7568">
                    <a:alpha val="53333"/>
                  </a:srgbClr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675" b="1">
                <a:solidFill>
                  <a:srgbClr val="6E7568">
                    <a:alpha val="53333"/>
                  </a:srgbClr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E7568">
                    <a:alpha val="53333"/>
                  </a:srgbClr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6539558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50EA110-6F1B-49B0-9DDA-EE08D15F97DB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7648575" y="3262313"/>
            <a:ext cx="742950" cy="0"/>
          </a:xfrm>
          <a:prstGeom prst="straightConnector1">
            <a:avLst/>
          </a:prstGeom>
          <a:ln w="28575">
            <a:solidFill>
              <a:srgbClr val="426D80"/>
            </a:solidFill>
            <a:prstDash val="solid"/>
            <a:headEnd type="arrow" w="med" len="med"/>
          </a:ln>
        </p:spPr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1B929A5-3D77-4749-AA05-FD2EA3FF81D4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3810000" y="3262313"/>
            <a:ext cx="742950" cy="0"/>
          </a:xfrm>
          <a:prstGeom prst="straightConnector1">
            <a:avLst/>
          </a:prstGeom>
          <a:ln w="28575">
            <a:solidFill>
              <a:srgbClr val="ED6639"/>
            </a:solidFill>
            <a:prstDash val="solid"/>
            <a:headEnd type="arrow" w="med" len="med"/>
          </a:ln>
        </p:spPr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D9B6D1E0-CA25-45E8-B51B-F8F075A0C8C5}"/>
              </a:ext>
            </a:extLst>
          </p:cNvPr>
          <p:cNvSpPr>
            <a:spLocks noGrp="1"/>
          </p:cNvSpPr>
          <p:nvPr/>
        </p:nvSpPr>
        <p:spPr>
          <a:xfrm>
            <a:off x="609600" y="428625"/>
            <a:ext cx="5143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>
            <a:defPPr>
              <a:defRPr sz="975" b="1">
                <a:solidFill>
                  <a:srgbClr val="ED6639"/>
                </a:solidFill>
                <a:latin typeface="Arial"/>
                <a:ea typeface="Arial"/>
                <a:cs typeface="Arial"/>
              </a:defRPr>
            </a:defPPr>
            <a:lvl1pPr>
              <a:defRPr sz="975" b="1">
                <a:solidFill>
                  <a:srgbClr val="ED6639"/>
                </a:solidFill>
                <a:latin typeface="Arial"/>
                <a:ea typeface="Arial"/>
                <a:cs typeface="Arial"/>
              </a:defRPr>
            </a:lvl1pPr>
            <a:lvl2pPr>
              <a:defRPr sz="975" b="1">
                <a:solidFill>
                  <a:srgbClr val="ED6639"/>
                </a:solidFill>
                <a:latin typeface="Arial"/>
                <a:ea typeface="Arial"/>
                <a:cs typeface="Arial"/>
              </a:defRPr>
            </a:lvl2pPr>
            <a:lvl3pPr>
              <a:defRPr sz="975" b="1">
                <a:solidFill>
                  <a:srgbClr val="ED6639"/>
                </a:solidFill>
                <a:latin typeface="Arial"/>
                <a:ea typeface="Arial"/>
                <a:cs typeface="Arial"/>
              </a:defRPr>
            </a:lvl3pPr>
            <a:lvl4pPr>
              <a:defRPr sz="975" b="1">
                <a:solidFill>
                  <a:srgbClr val="ED6639"/>
                </a:solidFill>
                <a:latin typeface="Arial"/>
                <a:ea typeface="Arial"/>
                <a:cs typeface="Arial"/>
              </a:defRPr>
            </a:lvl4pPr>
            <a:lvl5pPr>
              <a:defRPr sz="975" b="1">
                <a:solidFill>
                  <a:srgbClr val="ED6639"/>
                </a:solidFill>
                <a:latin typeface="Arial"/>
                <a:ea typeface="Arial"/>
                <a:cs typeface="Arial"/>
              </a:defRPr>
            </a:lvl5pPr>
            <a:lvl6pPr>
              <a:defRPr sz="975" b="1">
                <a:solidFill>
                  <a:srgbClr val="ED6639"/>
                </a:solidFill>
                <a:latin typeface="Arial"/>
                <a:ea typeface="Arial"/>
                <a:cs typeface="Arial"/>
              </a:defRPr>
            </a:lvl6pPr>
            <a:lvl7pPr>
              <a:defRPr sz="975" b="1">
                <a:solidFill>
                  <a:srgbClr val="ED6639"/>
                </a:solidFill>
                <a:latin typeface="Arial"/>
                <a:ea typeface="Arial"/>
                <a:cs typeface="Arial"/>
              </a:defRPr>
            </a:lvl7pPr>
            <a:lvl8pPr>
              <a:defRPr sz="975" b="1">
                <a:solidFill>
                  <a:srgbClr val="ED6639"/>
                </a:solidFill>
                <a:latin typeface="Arial"/>
                <a:ea typeface="Arial"/>
                <a:cs typeface="Arial"/>
              </a:defRPr>
            </a:lvl8pPr>
            <a:lvl9pPr>
              <a:defRPr sz="975" b="1">
                <a:solidFill>
                  <a:srgbClr val="ED6639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975" b="1">
                <a:solidFill>
                  <a:srgbClr val="ED663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ED6639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57D4FC2-7BAD-4725-BA1B-E93F2E32C00F}"/>
              </a:ext>
            </a:extLst>
          </p:cNvPr>
          <p:cNvSpPr>
            <a:spLocks noGrp="1"/>
          </p:cNvSpPr>
          <p:nvPr/>
        </p:nvSpPr>
        <p:spPr>
          <a:xfrm>
            <a:off x="1219200" y="352425"/>
            <a:ext cx="9525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>
            <a:defPPr>
              <a:defRPr sz="2400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400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1D19"/>
                </a:solidFill>
                <a:latin typeface="Arial"/>
                <a:ea typeface="Arial"/>
                <a:cs typeface="Arial"/>
              </a:rPr>
              <a:t>Sécurité et déploiement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1FF0A31-7855-4C18-ADC2-7BDB70F98206}"/>
              </a:ext>
            </a:extLst>
          </p:cNvPr>
          <p:cNvSpPr>
            <a:spLocks noGrp="1"/>
          </p:cNvSpPr>
          <p:nvPr/>
        </p:nvSpPr>
        <p:spPr>
          <a:xfrm>
            <a:off x="609600" y="990600"/>
            <a:ext cx="10972800" cy="9525"/>
          </a:xfrm>
          <a:prstGeom prst="rect">
            <a:avLst/>
          </a:prstGeom>
          <a:solidFill>
            <a:srgbClr val="CDD0C7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7B26476-974E-449B-9652-B2D5271312CA}"/>
              </a:ext>
            </a:extLst>
          </p:cNvPr>
          <p:cNvSpPr>
            <a:spLocks noGrp="1"/>
          </p:cNvSpPr>
          <p:nvPr/>
        </p:nvSpPr>
        <p:spPr>
          <a:xfrm>
            <a:off x="609600" y="1238250"/>
            <a:ext cx="6858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98447"/>
          </a:bodyPr>
          <a:lstStyle>
            <a:defPPr>
              <a:defRPr sz="2775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defPPr>
            <a:lvl1pPr>
              <a:defRPr sz="2775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lvl1pPr>
            <a:lvl2pPr>
              <a:defRPr sz="2775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lvl2pPr>
            <a:lvl3pPr>
              <a:defRPr sz="2775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lvl3pPr>
            <a:lvl4pPr>
              <a:defRPr sz="2775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lvl4pPr>
            <a:lvl5pPr>
              <a:defRPr sz="2775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lvl5pPr>
            <a:lvl6pPr>
              <a:defRPr sz="2775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lvl6pPr>
            <a:lvl7pPr>
              <a:defRPr sz="2775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lvl7pPr>
            <a:lvl8pPr>
              <a:defRPr sz="2775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lvl8pPr>
            <a:lvl9pPr>
              <a:defRPr sz="2775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775" b="1">
                <a:solidFill>
                  <a:srgbClr val="171D19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71D19"/>
                </a:solidFill>
                <a:latin typeface="Arial"/>
                <a:ea typeface="Arial"/>
                <a:cs typeface="Arial"/>
              </a:rPr>
              <a:t>Deux projets Vercel, une base Supabase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CA7E897-D4C6-462A-A1E2-271299A7610E}"/>
              </a:ext>
            </a:extLst>
          </p:cNvPr>
          <p:cNvSpPr>
            <a:spLocks noGrp="1"/>
          </p:cNvSpPr>
          <p:nvPr/>
        </p:nvSpPr>
        <p:spPr>
          <a:xfrm>
            <a:off x="714375" y="2428875"/>
            <a:ext cx="3095625" cy="1666875"/>
          </a:xfrm>
          <a:prstGeom prst="roundRect">
            <a:avLst>
              <a:gd name="adj" fmla="val 9143"/>
            </a:avLst>
          </a:prstGeom>
          <a:solidFill>
            <a:srgbClr val="E0E5DA"/>
          </a:solidFill>
          <a:ln w="9525">
            <a:solidFill>
              <a:srgbClr val="B9C1B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2DE2928-4657-4242-AE9E-A7CB825A10AC}"/>
              </a:ext>
            </a:extLst>
          </p:cNvPr>
          <p:cNvSpPr>
            <a:spLocks noGrp="1"/>
          </p:cNvSpPr>
          <p:nvPr/>
        </p:nvSpPr>
        <p:spPr>
          <a:xfrm>
            <a:off x="4552950" y="2428875"/>
            <a:ext cx="3095625" cy="1666875"/>
          </a:xfrm>
          <a:prstGeom prst="roundRect">
            <a:avLst>
              <a:gd name="adj" fmla="val 9143"/>
            </a:avLst>
          </a:prstGeom>
          <a:solidFill>
            <a:srgbClr val="F1DDCF"/>
          </a:solidFill>
          <a:ln w="9525">
            <a:solidFill>
              <a:srgbClr val="D6B49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C7401A4-D859-451C-A3C3-F90B339FDED7}"/>
              </a:ext>
            </a:extLst>
          </p:cNvPr>
          <p:cNvSpPr>
            <a:spLocks noGrp="1"/>
          </p:cNvSpPr>
          <p:nvPr/>
        </p:nvSpPr>
        <p:spPr>
          <a:xfrm>
            <a:off x="8391525" y="2428875"/>
            <a:ext cx="3095625" cy="1666875"/>
          </a:xfrm>
          <a:prstGeom prst="roundRect">
            <a:avLst>
              <a:gd name="adj" fmla="val 9143"/>
            </a:avLst>
          </a:prstGeom>
          <a:solidFill>
            <a:srgbClr val="DDE7EC"/>
          </a:solidFill>
          <a:ln w="9525">
            <a:solidFill>
              <a:srgbClr val="AEC5D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CC39FAD-4BDD-42B1-96DE-6EAB1CCB0E4F}"/>
              </a:ext>
            </a:extLst>
          </p:cNvPr>
          <p:cNvSpPr>
            <a:spLocks noGrp="1"/>
          </p:cNvSpPr>
          <p:nvPr/>
        </p:nvSpPr>
        <p:spPr>
          <a:xfrm>
            <a:off x="1000125" y="2733675"/>
            <a:ext cx="25241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96825"/>
          </a:bodyPr>
          <a:lstStyle>
            <a:defPPr>
              <a:defRPr sz="1575" b="1">
                <a:solidFill>
                  <a:srgbClr val="66804D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66804D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66804D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66804D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66804D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66804D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66804D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66804D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66804D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66804D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575" b="1">
                <a:solidFill>
                  <a:srgbClr val="6680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66804D"/>
                </a:solidFill>
                <a:latin typeface="Arial"/>
                <a:ea typeface="Arial"/>
                <a:cs typeface="Arial"/>
              </a:rPr>
              <a:t>FRONTEND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7D04C32-7781-48DE-B5E3-AD71EDC7C6C2}"/>
              </a:ext>
            </a:extLst>
          </p:cNvPr>
          <p:cNvSpPr>
            <a:spLocks noGrp="1"/>
          </p:cNvSpPr>
          <p:nvPr/>
        </p:nvSpPr>
        <p:spPr>
          <a:xfrm>
            <a:off x="1000125" y="3209925"/>
            <a:ext cx="252412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>
            <a:defPPr>
              <a:defRPr sz="1200" b="0">
                <a:solidFill>
                  <a:srgbClr val="171D19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171D19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171D19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171D19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171D19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171D19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171D19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171D19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171D19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171D19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 b="0">
                <a:solidFill>
                  <a:srgbClr val="171D1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1D19"/>
                </a:solidFill>
                <a:latin typeface="Arial"/>
                <a:ea typeface="Arial"/>
                <a:cs typeface="Arial"/>
              </a:rPr>
              <a:t>lesiteilesttropbienwola</a:t>
            </a:r>
          </a:p>
          <a:p>
            <a:pPr>
              <a:defRPr sz="1200" b="0">
                <a:solidFill>
                  <a:srgbClr val="171D1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1D19"/>
                </a:solidFill>
                <a:latin typeface="Arial"/>
                <a:ea typeface="Arial"/>
                <a:cs typeface="Arial"/>
              </a:rPr>
              <a:t>Vite construit dist/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60B5328-83BA-460B-BEA5-41EC6A66A881}"/>
              </a:ext>
            </a:extLst>
          </p:cNvPr>
          <p:cNvSpPr>
            <a:spLocks noGrp="1"/>
          </p:cNvSpPr>
          <p:nvPr/>
        </p:nvSpPr>
        <p:spPr>
          <a:xfrm>
            <a:off x="4838700" y="2733675"/>
            <a:ext cx="25241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96825"/>
          </a:bodyPr>
          <a:lstStyle>
            <a:defPPr>
              <a:defRPr sz="1575" b="1">
                <a:solidFill>
                  <a:srgbClr val="A34F3B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A34F3B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A34F3B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A34F3B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A34F3B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A34F3B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A34F3B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A34F3B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A34F3B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A34F3B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575" b="1">
                <a:solidFill>
                  <a:srgbClr val="A34F3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A34F3B"/>
                </a:solidFill>
                <a:latin typeface="Arial"/>
                <a:ea typeface="Arial"/>
                <a:cs typeface="Arial"/>
              </a:rPr>
              <a:t>API EXPRESS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02F32F3-D9A3-434D-BAF7-AE590B7F3C9E}"/>
              </a:ext>
            </a:extLst>
          </p:cNvPr>
          <p:cNvSpPr>
            <a:spLocks noGrp="1"/>
          </p:cNvSpPr>
          <p:nvPr/>
        </p:nvSpPr>
        <p:spPr>
          <a:xfrm>
            <a:off x="4838700" y="3209925"/>
            <a:ext cx="252412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>
            <a:defPPr>
              <a:defRPr sz="1200" b="0">
                <a:solidFill>
                  <a:srgbClr val="171D19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171D19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171D19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171D19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171D19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171D19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171D19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171D19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171D19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171D19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 b="0">
                <a:solidFill>
                  <a:srgbClr val="171D1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1D19"/>
                </a:solidFill>
                <a:latin typeface="Arial"/>
                <a:ea typeface="Arial"/>
                <a:cs typeface="Arial"/>
              </a:rPr>
              <a:t>mon-api-weld</a:t>
            </a:r>
          </a:p>
          <a:p>
            <a:pPr>
              <a:defRPr sz="1200" b="0">
                <a:solidFill>
                  <a:srgbClr val="171D1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1D19"/>
                </a:solidFill>
                <a:latin typeface="Arial"/>
                <a:ea typeface="Arial"/>
                <a:cs typeface="Arial"/>
              </a:rPr>
              <a:t>Variables privées Supabase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FC6017A-E3EB-4093-82AA-278C89F45AC9}"/>
              </a:ext>
            </a:extLst>
          </p:cNvPr>
          <p:cNvSpPr>
            <a:spLocks noGrp="1"/>
          </p:cNvSpPr>
          <p:nvPr/>
        </p:nvSpPr>
        <p:spPr>
          <a:xfrm>
            <a:off x="8677275" y="2733675"/>
            <a:ext cx="25241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96825"/>
          </a:bodyPr>
          <a:lstStyle>
            <a:defPPr>
              <a:defRPr sz="1575" b="1">
                <a:solidFill>
                  <a:srgbClr val="426D80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426D80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426D80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426D80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426D80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426D80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426D80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426D80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426D80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426D8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575" b="1">
                <a:solidFill>
                  <a:srgbClr val="426D8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426D80"/>
                </a:solidFill>
                <a:latin typeface="Arial"/>
                <a:ea typeface="Arial"/>
                <a:cs typeface="Arial"/>
              </a:rPr>
              <a:t>SUPABASE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83C88F6-CAE7-47DE-95BE-7EBACD194270}"/>
              </a:ext>
            </a:extLst>
          </p:cNvPr>
          <p:cNvSpPr>
            <a:spLocks noGrp="1"/>
          </p:cNvSpPr>
          <p:nvPr/>
        </p:nvSpPr>
        <p:spPr>
          <a:xfrm>
            <a:off x="8677275" y="3209925"/>
            <a:ext cx="252412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>
            <a:defPPr>
              <a:defRPr sz="1200" b="0">
                <a:solidFill>
                  <a:srgbClr val="171D19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171D19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171D19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171D19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171D19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171D19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171D19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171D19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171D19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171D19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 b="0">
                <a:solidFill>
                  <a:srgbClr val="171D1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1D19"/>
                </a:solidFill>
                <a:latin typeface="Arial"/>
                <a:ea typeface="Arial"/>
                <a:cs typeface="Arial"/>
              </a:rPr>
              <a:t>Table bieres</a:t>
            </a:r>
          </a:p>
          <a:p>
            <a:pPr>
              <a:defRPr sz="1200" b="0">
                <a:solidFill>
                  <a:srgbClr val="171D1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1D19"/>
                </a:solidFill>
                <a:latin typeface="Arial"/>
                <a:ea typeface="Arial"/>
                <a:cs typeface="Arial"/>
              </a:rPr>
              <a:t>RLS et service_role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8B8A03F-EC14-4DC5-85A0-3E6B17B13E06}"/>
              </a:ext>
            </a:extLst>
          </p:cNvPr>
          <p:cNvSpPr>
            <a:spLocks noGrp="1"/>
          </p:cNvSpPr>
          <p:nvPr/>
        </p:nvSpPr>
        <p:spPr>
          <a:xfrm>
            <a:off x="1095375" y="4857750"/>
            <a:ext cx="10001250" cy="1285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>
            <a:defPPr>
              <a:defRPr sz="1425" b="0">
                <a:solidFill>
                  <a:srgbClr val="171D19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171D19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171D19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171D19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171D19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171D19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171D19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171D19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171D19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171D19"/>
                </a:solidFill>
                <a:latin typeface="Arial"/>
                <a:ea typeface="Arial"/>
                <a:cs typeface="Arial"/>
              </a:defRPr>
            </a:lvl9pPr>
          </a:lstStyle>
          <a:p>
            <a:pPr marL="228600" indent="-114300">
              <a:spcAft>
                <a:spcPts val="900"/>
              </a:spcAft>
              <a:buChar char="•"/>
              <a:defRPr sz="1425" b="0">
                <a:solidFill>
                  <a:srgbClr val="171D19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71D19"/>
                </a:solidFill>
                <a:latin typeface="Arial"/>
                <a:ea typeface="Arial"/>
                <a:cs typeface="Arial"/>
              </a:rPr>
              <a:t>Aucune clé Supabase dans React.</a:t>
            </a:r>
          </a:p>
          <a:p>
            <a:pPr marL="228600" indent="-114300">
              <a:spcAft>
                <a:spcPts val="900"/>
              </a:spcAft>
              <a:buChar char="•"/>
              <a:defRPr sz="1425" b="0">
                <a:solidFill>
                  <a:srgbClr val="171D19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71D19"/>
                </a:solidFill>
                <a:latin typeface="Arial"/>
                <a:ea typeface="Arial"/>
                <a:cs typeface="Arial"/>
              </a:rPr>
              <a:t>La clé secrète existe uniquement dans les variables Vercel de l’API.</a:t>
            </a:r>
          </a:p>
          <a:p>
            <a:pPr marL="228600" indent="-114300">
              <a:spcAft>
                <a:spcPts val="900"/>
              </a:spcAft>
              <a:buChar char="•"/>
              <a:defRPr sz="1425" b="0">
                <a:solidFill>
                  <a:srgbClr val="171D19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71D19"/>
                </a:solidFill>
                <a:latin typeface="Arial"/>
                <a:ea typeface="Arial"/>
                <a:cs typeface="Arial"/>
              </a:rPr>
              <a:t>CORS autorise le frontend à appeler le backend sur un autre domaine.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D3BCD8D-D40C-42A7-A855-320DD53DD709}"/>
              </a:ext>
            </a:extLst>
          </p:cNvPr>
          <p:cNvSpPr>
            <a:spLocks noGrp="1"/>
          </p:cNvSpPr>
          <p:nvPr/>
        </p:nvSpPr>
        <p:spPr>
          <a:xfrm>
            <a:off x="609600" y="6448425"/>
            <a:ext cx="2476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85278" lnSpcReduction="20000"/>
          </a:bodyPr>
          <a:lstStyle>
            <a:defPPr>
              <a:defRPr sz="675" b="1">
                <a:solidFill>
                  <a:srgbClr val="6E7568">
                    <a:alpha val="53333"/>
                  </a:srgbClr>
                </a:solidFill>
                <a:latin typeface="Arial"/>
                <a:ea typeface="Arial"/>
                <a:cs typeface="Arial"/>
              </a:defRPr>
            </a:defPPr>
            <a:lvl1pPr>
              <a:defRPr sz="675" b="1">
                <a:solidFill>
                  <a:srgbClr val="6E7568">
                    <a:alpha val="53333"/>
                  </a:srgbClr>
                </a:solidFill>
                <a:latin typeface="Arial"/>
                <a:ea typeface="Arial"/>
                <a:cs typeface="Arial"/>
              </a:defRPr>
            </a:lvl1pPr>
            <a:lvl2pPr>
              <a:defRPr sz="675" b="1">
                <a:solidFill>
                  <a:srgbClr val="6E7568">
                    <a:alpha val="53333"/>
                  </a:srgbClr>
                </a:solidFill>
                <a:latin typeface="Arial"/>
                <a:ea typeface="Arial"/>
                <a:cs typeface="Arial"/>
              </a:defRPr>
            </a:lvl2pPr>
            <a:lvl3pPr>
              <a:defRPr sz="675" b="1">
                <a:solidFill>
                  <a:srgbClr val="6E7568">
                    <a:alpha val="53333"/>
                  </a:srgbClr>
                </a:solidFill>
                <a:latin typeface="Arial"/>
                <a:ea typeface="Arial"/>
                <a:cs typeface="Arial"/>
              </a:defRPr>
            </a:lvl3pPr>
            <a:lvl4pPr>
              <a:defRPr sz="675" b="1">
                <a:solidFill>
                  <a:srgbClr val="6E7568">
                    <a:alpha val="53333"/>
                  </a:srgbClr>
                </a:solidFill>
                <a:latin typeface="Arial"/>
                <a:ea typeface="Arial"/>
                <a:cs typeface="Arial"/>
              </a:defRPr>
            </a:lvl4pPr>
            <a:lvl5pPr>
              <a:defRPr sz="675" b="1">
                <a:solidFill>
                  <a:srgbClr val="6E7568">
                    <a:alpha val="53333"/>
                  </a:srgbClr>
                </a:solidFill>
                <a:latin typeface="Arial"/>
                <a:ea typeface="Arial"/>
                <a:cs typeface="Arial"/>
              </a:defRPr>
            </a:lvl5pPr>
            <a:lvl6pPr>
              <a:defRPr sz="675" b="1">
                <a:solidFill>
                  <a:srgbClr val="6E7568">
                    <a:alpha val="53333"/>
                  </a:srgbClr>
                </a:solidFill>
                <a:latin typeface="Arial"/>
                <a:ea typeface="Arial"/>
                <a:cs typeface="Arial"/>
              </a:defRPr>
            </a:lvl6pPr>
            <a:lvl7pPr>
              <a:defRPr sz="675" b="1">
                <a:solidFill>
                  <a:srgbClr val="6E7568">
                    <a:alpha val="53333"/>
                  </a:srgbClr>
                </a:solidFill>
                <a:latin typeface="Arial"/>
                <a:ea typeface="Arial"/>
                <a:cs typeface="Arial"/>
              </a:defRPr>
            </a:lvl7pPr>
            <a:lvl8pPr>
              <a:defRPr sz="675" b="1">
                <a:solidFill>
                  <a:srgbClr val="6E7568">
                    <a:alpha val="53333"/>
                  </a:srgbClr>
                </a:solidFill>
                <a:latin typeface="Arial"/>
                <a:ea typeface="Arial"/>
                <a:cs typeface="Arial"/>
              </a:defRPr>
            </a:lvl8pPr>
            <a:lvl9pPr>
              <a:defRPr sz="675" b="1">
                <a:solidFill>
                  <a:srgbClr val="6E7568">
                    <a:alpha val="53333"/>
                  </a:srgbClr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675" b="1">
                <a:solidFill>
                  <a:srgbClr val="6E7568">
                    <a:alpha val="53333"/>
                  </a:srgbClr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E7568">
                    <a:alpha val="53333"/>
                  </a:srgbClr>
                </a:solidFill>
                <a:latin typeface="Arial"/>
                <a:ea typeface="Arial"/>
                <a:cs typeface="Arial"/>
              </a:rPr>
              <a:t>8.6 · LE COLLECTIF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2C90F4E-B96C-402D-B9CC-98EFB9BBAA48}"/>
              </a:ext>
            </a:extLst>
          </p:cNvPr>
          <p:cNvSpPr>
            <a:spLocks noGrp="1"/>
          </p:cNvSpPr>
          <p:nvPr/>
        </p:nvSpPr>
        <p:spPr>
          <a:xfrm>
            <a:off x="11144250" y="6448425"/>
            <a:ext cx="4286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85278" lnSpcReduction="20000"/>
          </a:bodyPr>
          <a:lstStyle>
            <a:defPPr>
              <a:defRPr sz="675" b="1">
                <a:solidFill>
                  <a:srgbClr val="6E7568">
                    <a:alpha val="53333"/>
                  </a:srgbClr>
                </a:solidFill>
                <a:latin typeface="Arial"/>
                <a:ea typeface="Arial"/>
                <a:cs typeface="Arial"/>
              </a:defRPr>
            </a:defPPr>
            <a:lvl1pPr>
              <a:defRPr sz="675" b="1">
                <a:solidFill>
                  <a:srgbClr val="6E7568">
                    <a:alpha val="53333"/>
                  </a:srgbClr>
                </a:solidFill>
                <a:latin typeface="Arial"/>
                <a:ea typeface="Arial"/>
                <a:cs typeface="Arial"/>
              </a:defRPr>
            </a:lvl1pPr>
            <a:lvl2pPr>
              <a:defRPr sz="675" b="1">
                <a:solidFill>
                  <a:srgbClr val="6E7568">
                    <a:alpha val="53333"/>
                  </a:srgbClr>
                </a:solidFill>
                <a:latin typeface="Arial"/>
                <a:ea typeface="Arial"/>
                <a:cs typeface="Arial"/>
              </a:defRPr>
            </a:lvl2pPr>
            <a:lvl3pPr>
              <a:defRPr sz="675" b="1">
                <a:solidFill>
                  <a:srgbClr val="6E7568">
                    <a:alpha val="53333"/>
                  </a:srgbClr>
                </a:solidFill>
                <a:latin typeface="Arial"/>
                <a:ea typeface="Arial"/>
                <a:cs typeface="Arial"/>
              </a:defRPr>
            </a:lvl3pPr>
            <a:lvl4pPr>
              <a:defRPr sz="675" b="1">
                <a:solidFill>
                  <a:srgbClr val="6E7568">
                    <a:alpha val="53333"/>
                  </a:srgbClr>
                </a:solidFill>
                <a:latin typeface="Arial"/>
                <a:ea typeface="Arial"/>
                <a:cs typeface="Arial"/>
              </a:defRPr>
            </a:lvl4pPr>
            <a:lvl5pPr>
              <a:defRPr sz="675" b="1">
                <a:solidFill>
                  <a:srgbClr val="6E7568">
                    <a:alpha val="53333"/>
                  </a:srgbClr>
                </a:solidFill>
                <a:latin typeface="Arial"/>
                <a:ea typeface="Arial"/>
                <a:cs typeface="Arial"/>
              </a:defRPr>
            </a:lvl5pPr>
            <a:lvl6pPr>
              <a:defRPr sz="675" b="1">
                <a:solidFill>
                  <a:srgbClr val="6E7568">
                    <a:alpha val="53333"/>
                  </a:srgbClr>
                </a:solidFill>
                <a:latin typeface="Arial"/>
                <a:ea typeface="Arial"/>
                <a:cs typeface="Arial"/>
              </a:defRPr>
            </a:lvl6pPr>
            <a:lvl7pPr>
              <a:defRPr sz="675" b="1">
                <a:solidFill>
                  <a:srgbClr val="6E7568">
                    <a:alpha val="53333"/>
                  </a:srgbClr>
                </a:solidFill>
                <a:latin typeface="Arial"/>
                <a:ea typeface="Arial"/>
                <a:cs typeface="Arial"/>
              </a:defRPr>
            </a:lvl7pPr>
            <a:lvl8pPr>
              <a:defRPr sz="675" b="1">
                <a:solidFill>
                  <a:srgbClr val="6E7568">
                    <a:alpha val="53333"/>
                  </a:srgbClr>
                </a:solidFill>
                <a:latin typeface="Arial"/>
                <a:ea typeface="Arial"/>
                <a:cs typeface="Arial"/>
              </a:defRPr>
            </a:lvl8pPr>
            <a:lvl9pPr>
              <a:defRPr sz="675" b="1">
                <a:solidFill>
                  <a:srgbClr val="6E7568">
                    <a:alpha val="53333"/>
                  </a:srgbClr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675" b="1">
                <a:solidFill>
                  <a:srgbClr val="6E7568">
                    <a:alpha val="53333"/>
                  </a:srgbClr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E7568">
                    <a:alpha val="53333"/>
                  </a:srgbClr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69083623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666</Words>
  <Application>Microsoft Office PowerPoint</Application>
  <DocSecurity>0</DocSecurity>
  <PresentationFormat>Grand écran</PresentationFormat>
  <Paragraphs>144</Paragraphs>
  <Slides>8</Slides>
  <Notes>8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1" baseType="lpstr">
      <vt:lpstr>Aptos</vt:lpstr>
      <vt:lpstr>Arial</vt:lpstr>
      <vt:lpstr>ChatGPT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Antoine FAURE</cp:lastModifiedBy>
  <cp:revision>2</cp:revision>
  <dcterms:created xsi:type="dcterms:W3CDTF">2026-10-26T08:20:02Z</dcterms:created>
  <dcterms:modified xsi:type="dcterms:W3CDTF">2026-10-26T11:03:29Z</dcterms:modified>
</cp:coreProperties>
</file>